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2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Host Grotesk Medium" panose="020B0604020202020204" charset="0"/>
      <p:regular r:id="rId14"/>
    </p:embeddedFont>
    <p:embeddedFont>
      <p:font typeface="Garamond" panose="02020404030301010803" pitchFamily="18" charset="0"/>
      <p:regular r:id="rId15"/>
      <p:bold r:id="rId16"/>
      <p:italic r:id="rId17"/>
    </p:embeddedFont>
    <p:embeddedFont>
      <p:font typeface="Host Grotesk" panose="020B0604020202020204" charset="0"/>
      <p:regular r:id="rId18"/>
    </p:embeddedFont>
    <p:embeddedFont>
      <p:font typeface="Bodoni Moda" panose="020B0604020202020204" charset="0"/>
      <p:regular r:id="rId19"/>
    </p:embeddedFont>
    <p:embeddedFont>
      <p:font typeface="Host Grotesk Bold" panose="020B0604020202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46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1598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0525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728232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25731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0243458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10/24/2026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43104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557604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319378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053391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516154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515887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39372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515755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8208194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68687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44080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343307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374179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7742658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7FC9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6824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2"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4013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210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5176" y="965200"/>
            <a:ext cx="4328111" cy="213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kern="100" spc="640" dirty="0">
                <a:solidFill>
                  <a:srgbClr val="111111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BLOCKCHAIN BASED VOTING SYSTEM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965176" y="3321050"/>
            <a:ext cx="4328012" cy="19050"/>
          </a:xfrm>
          <a:prstGeom prst="roundRect">
            <a:avLst>
              <a:gd name="adj" fmla="val 49999"/>
            </a:avLst>
          </a:prstGeom>
          <a:solidFill>
            <a:srgbClr val="111111"/>
          </a:solidFill>
          <a:ln/>
        </p:spPr>
      </p:sp>
      <p:sp>
        <p:nvSpPr>
          <p:cNvPr id="4" name="Text 2"/>
          <p:cNvSpPr/>
          <p:nvPr/>
        </p:nvSpPr>
        <p:spPr>
          <a:xfrm>
            <a:off x="965176" y="3686175"/>
            <a:ext cx="4328111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11111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Project Proposal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965176" y="4090988"/>
            <a:ext cx="493769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Presented by: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65176" y="4339829"/>
            <a:ext cx="4328111" cy="8596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Sharaiz </a:t>
            </a:r>
            <a:r>
              <a:rPr lang="en-US" sz="1400" dirty="0" smtClean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Ahmed (57288)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Abdul </a:t>
            </a:r>
            <a:r>
              <a:rPr lang="en-US" sz="1400" dirty="0" err="1" smtClean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Moiz</a:t>
            </a:r>
            <a:r>
              <a:rPr lang="en-US" sz="1400" dirty="0" smtClean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(54482</a:t>
            </a:r>
            <a:r>
              <a:rPr lang="en-US" sz="1400" dirty="0" smtClean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)</a:t>
            </a:r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 err="1" smtClean="0">
                <a:solidFill>
                  <a:srgbClr val="1E1E1C"/>
                </a:solidFill>
                <a:latin typeface="Host Grotesk" pitchFamily="34" charset="0"/>
              </a:rPr>
              <a:t>Nouman</a:t>
            </a:r>
            <a:r>
              <a:rPr lang="en-US" sz="1400" dirty="0" smtClean="0">
                <a:solidFill>
                  <a:srgbClr val="1E1E1C"/>
                </a:solidFill>
                <a:latin typeface="Host Grotesk" pitchFamily="34" charset="0"/>
              </a:rPr>
              <a:t> </a:t>
            </a:r>
            <a:r>
              <a:rPr lang="en-US" sz="1400" dirty="0" err="1" smtClean="0">
                <a:solidFill>
                  <a:srgbClr val="1E1E1C"/>
                </a:solidFill>
                <a:latin typeface="Host Grotesk" pitchFamily="34" charset="0"/>
              </a:rPr>
              <a:t>Mohsin</a:t>
            </a:r>
            <a:r>
              <a:rPr lang="en-US" sz="1400" smtClean="0">
                <a:solidFill>
                  <a:srgbClr val="1E1E1C"/>
                </a:solidFill>
                <a:latin typeface="Host Grotesk" pitchFamily="34" charset="0"/>
              </a:rPr>
              <a:t> (52963)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5176" y="5199459"/>
            <a:ext cx="4328111" cy="6564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E1E1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Course:</a:t>
            </a: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Introduction to Crypto &amp; Blockchain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 smtClean="0">
                <a:solidFill>
                  <a:srgbClr val="1E1E1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Submitted to:</a:t>
            </a:r>
            <a:r>
              <a:rPr lang="en-US" sz="1400" dirty="0" smtClean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Sir </a:t>
            </a:r>
            <a:r>
              <a:rPr lang="en-US" sz="1400" dirty="0" err="1" smtClean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Mubariz</a:t>
            </a:r>
            <a:r>
              <a:rPr lang="en-US" sz="1400" dirty="0" smtClean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</a:t>
            </a:r>
            <a:r>
              <a:rPr lang="en-US" sz="1400" dirty="0" err="1" smtClean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Rehman</a:t>
            </a:r>
            <a:endParaRPr lang="en-US" sz="14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728" y="1028700"/>
            <a:ext cx="533387" cy="14287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391910" y="1206500"/>
            <a:ext cx="2834609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100" spc="-26" dirty="0">
                <a:solidFill>
                  <a:srgbClr val="1E1E1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Voter</a:t>
            </a:r>
            <a:endParaRPr lang="en-US" sz="17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7421" y="2273300"/>
            <a:ext cx="533387" cy="142875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58604" y="2451100"/>
            <a:ext cx="2567915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100" spc="-26" dirty="0">
                <a:solidFill>
                  <a:srgbClr val="1E1E1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Website</a:t>
            </a:r>
            <a:endParaRPr lang="en-US" sz="17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4115" y="3517900"/>
            <a:ext cx="533387" cy="14287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925297" y="3695700"/>
            <a:ext cx="2301222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100" spc="-26" dirty="0">
                <a:solidFill>
                  <a:srgbClr val="1E1E1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Smart Contract</a:t>
            </a:r>
            <a:endParaRPr lang="en-US" sz="17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0808" y="4762500"/>
            <a:ext cx="533387" cy="14287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191990" y="4940300"/>
            <a:ext cx="2034529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100" spc="-26" dirty="0">
                <a:solidFill>
                  <a:srgbClr val="1E1E1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Blockchain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10498470" y="123825"/>
            <a:ext cx="1337733" cy="311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50" kern="100" spc="35" dirty="0">
                <a:solidFill>
                  <a:srgbClr val="1E1E1C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01 / 10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0972" y="947782"/>
            <a:ext cx="4328111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51" dirty="0">
                <a:solidFill>
                  <a:srgbClr val="11111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339645" y="2564798"/>
            <a:ext cx="4328111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700" kern="100" spc="-40" dirty="0">
                <a:solidFill>
                  <a:srgbClr val="11111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What is the Project?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339645" y="3119729"/>
            <a:ext cx="4328111" cy="1422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 web based voting application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Designed for university or class elections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Registered users can cast their vote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Votes are recorded on blockchain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Results can be checked easily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93339" y="1702505"/>
            <a:ext cx="355591" cy="633412"/>
          </a:xfrm>
          <a:prstGeom prst="roundRect">
            <a:avLst>
              <a:gd name="adj" fmla="val 7500"/>
            </a:avLst>
          </a:prstGeom>
          <a:solidFill>
            <a:srgbClr val="E6E6E6"/>
          </a:solidFill>
          <a:ln/>
        </p:spPr>
      </p:sp>
      <p:sp>
        <p:nvSpPr>
          <p:cNvPr id="6" name="Text 4"/>
          <p:cNvSpPr/>
          <p:nvPr/>
        </p:nvSpPr>
        <p:spPr>
          <a:xfrm>
            <a:off x="7571135" y="1881694"/>
            <a:ext cx="159143" cy="2749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kern="100" spc="-26" dirty="0">
                <a:solidFill>
                  <a:srgbClr val="1E1E1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926726" y="1880305"/>
            <a:ext cx="2834609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100" spc="-26" dirty="0">
                <a:solidFill>
                  <a:srgbClr val="1E1E1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Administrator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837828" y="2331155"/>
            <a:ext cx="3012404" cy="9525"/>
          </a:xfrm>
          <a:prstGeom prst="roundRect">
            <a:avLst>
              <a:gd name="adj" fmla="val 49999"/>
            </a:avLst>
          </a:prstGeom>
          <a:solidFill>
            <a:srgbClr val="CCCCCC"/>
          </a:solidFill>
          <a:ln/>
        </p:spPr>
      </p:sp>
      <p:sp>
        <p:nvSpPr>
          <p:cNvPr id="9" name="Shape 7"/>
          <p:cNvSpPr/>
          <p:nvPr/>
        </p:nvSpPr>
        <p:spPr>
          <a:xfrm>
            <a:off x="7393339" y="2424817"/>
            <a:ext cx="709099" cy="633412"/>
          </a:xfrm>
          <a:prstGeom prst="roundRect">
            <a:avLst>
              <a:gd name="adj" fmla="val 4210"/>
            </a:avLst>
          </a:prstGeom>
          <a:solidFill>
            <a:srgbClr val="E6E6E6"/>
          </a:solidFill>
          <a:ln/>
        </p:spPr>
      </p:sp>
      <p:sp>
        <p:nvSpPr>
          <p:cNvPr id="10" name="Text 8"/>
          <p:cNvSpPr/>
          <p:nvPr/>
        </p:nvSpPr>
        <p:spPr>
          <a:xfrm>
            <a:off x="7622926" y="2604006"/>
            <a:ext cx="249926" cy="2749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kern="100" spc="-26" dirty="0">
                <a:solidFill>
                  <a:srgbClr val="1E1E1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8280233" y="2602617"/>
            <a:ext cx="2481101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100" spc="-26" dirty="0">
                <a:solidFill>
                  <a:srgbClr val="1E1E1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Voting Website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191336" y="3053467"/>
            <a:ext cx="2658897" cy="9525"/>
          </a:xfrm>
          <a:prstGeom prst="roundRect">
            <a:avLst>
              <a:gd name="adj" fmla="val 49999"/>
            </a:avLst>
          </a:prstGeom>
          <a:solidFill>
            <a:srgbClr val="CCCCCC"/>
          </a:solidFill>
          <a:ln/>
        </p:spPr>
      </p:sp>
      <p:sp>
        <p:nvSpPr>
          <p:cNvPr id="13" name="Shape 11"/>
          <p:cNvSpPr/>
          <p:nvPr/>
        </p:nvSpPr>
        <p:spPr>
          <a:xfrm>
            <a:off x="7393339" y="3147130"/>
            <a:ext cx="1063698" cy="633412"/>
          </a:xfrm>
          <a:prstGeom prst="roundRect">
            <a:avLst>
              <a:gd name="adj" fmla="val 4210"/>
            </a:avLst>
          </a:prstGeom>
          <a:solidFill>
            <a:srgbClr val="E6E6E6"/>
          </a:solidFill>
          <a:ln/>
        </p:spPr>
      </p:sp>
      <p:sp>
        <p:nvSpPr>
          <p:cNvPr id="14" name="Text 12"/>
          <p:cNvSpPr/>
          <p:nvPr/>
        </p:nvSpPr>
        <p:spPr>
          <a:xfrm>
            <a:off x="7800225" y="3326319"/>
            <a:ext cx="249926" cy="2749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kern="100" spc="-26" dirty="0">
                <a:solidFill>
                  <a:srgbClr val="1E1E1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8634832" y="3324930"/>
            <a:ext cx="2126502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100" spc="-26" dirty="0">
                <a:solidFill>
                  <a:srgbClr val="1E1E1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Registered Voter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8545935" y="3775780"/>
            <a:ext cx="2304298" cy="9525"/>
          </a:xfrm>
          <a:prstGeom prst="roundRect">
            <a:avLst>
              <a:gd name="adj" fmla="val 49999"/>
            </a:avLst>
          </a:prstGeom>
          <a:solidFill>
            <a:srgbClr val="CCCCCC"/>
          </a:solidFill>
          <a:ln/>
        </p:spPr>
      </p:sp>
      <p:sp>
        <p:nvSpPr>
          <p:cNvPr id="17" name="Shape 15"/>
          <p:cNvSpPr/>
          <p:nvPr/>
        </p:nvSpPr>
        <p:spPr>
          <a:xfrm>
            <a:off x="7393339" y="3869442"/>
            <a:ext cx="1418297" cy="633412"/>
          </a:xfrm>
          <a:prstGeom prst="roundRect">
            <a:avLst>
              <a:gd name="adj" fmla="val 4210"/>
            </a:avLst>
          </a:prstGeom>
          <a:solidFill>
            <a:srgbClr val="E6E6E6"/>
          </a:solidFill>
          <a:ln/>
        </p:spPr>
      </p:sp>
      <p:sp>
        <p:nvSpPr>
          <p:cNvPr id="18" name="Text 16"/>
          <p:cNvSpPr/>
          <p:nvPr/>
        </p:nvSpPr>
        <p:spPr>
          <a:xfrm>
            <a:off x="7977525" y="4048631"/>
            <a:ext cx="249926" cy="2749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kern="100" spc="-26" dirty="0">
                <a:solidFill>
                  <a:srgbClr val="1E1E1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8989431" y="4047242"/>
            <a:ext cx="1771903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100" spc="-26" dirty="0">
                <a:solidFill>
                  <a:srgbClr val="1E1E1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Smart Contract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8900533" y="4498092"/>
            <a:ext cx="1949699" cy="9525"/>
          </a:xfrm>
          <a:prstGeom prst="roundRect">
            <a:avLst>
              <a:gd name="adj" fmla="val 49999"/>
            </a:avLst>
          </a:prstGeom>
          <a:solidFill>
            <a:srgbClr val="CCCCCC"/>
          </a:solidFill>
          <a:ln/>
        </p:spPr>
      </p:sp>
      <p:sp>
        <p:nvSpPr>
          <p:cNvPr id="21" name="Shape 19"/>
          <p:cNvSpPr/>
          <p:nvPr/>
        </p:nvSpPr>
        <p:spPr>
          <a:xfrm>
            <a:off x="7393339" y="4591755"/>
            <a:ext cx="1772895" cy="633412"/>
          </a:xfrm>
          <a:prstGeom prst="roundRect">
            <a:avLst>
              <a:gd name="adj" fmla="val 4210"/>
            </a:avLst>
          </a:prstGeom>
          <a:solidFill>
            <a:srgbClr val="E6E6E6"/>
          </a:solidFill>
          <a:ln/>
        </p:spPr>
      </p:sp>
      <p:sp>
        <p:nvSpPr>
          <p:cNvPr id="22" name="Text 20"/>
          <p:cNvSpPr/>
          <p:nvPr/>
        </p:nvSpPr>
        <p:spPr>
          <a:xfrm>
            <a:off x="8154824" y="4770944"/>
            <a:ext cx="249926" cy="2749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kern="100" spc="-26" dirty="0">
                <a:solidFill>
                  <a:srgbClr val="1E1E1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5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9344030" y="4769555"/>
            <a:ext cx="1417304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100" spc="-26" dirty="0">
                <a:solidFill>
                  <a:srgbClr val="1E1E1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Blockchain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10472972" y="123825"/>
            <a:ext cx="1363232" cy="311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50" kern="100" spc="35" dirty="0">
                <a:solidFill>
                  <a:srgbClr val="1E1E1C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02 / 10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5176" y="1854597"/>
            <a:ext cx="10261343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51" dirty="0">
                <a:solidFill>
                  <a:srgbClr val="11111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65176" y="2507357"/>
            <a:ext cx="4978275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700" kern="100" spc="-40" dirty="0">
                <a:solidFill>
                  <a:srgbClr val="11111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Current Problems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65176" y="3062288"/>
            <a:ext cx="4978275" cy="1128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Traditional voting can involve paperwork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Manual work can take more time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Online voting can raise concerns about changing records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Voting records may need stronger protection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48244" y="2507357"/>
            <a:ext cx="4978275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700" kern="100" spc="-40" dirty="0">
                <a:solidFill>
                  <a:srgbClr val="11111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Our Focus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248244" y="3062288"/>
            <a:ext cx="497827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Use blockchain to store voting records in a way that is difficult to change after recording.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5176" y="4349750"/>
            <a:ext cx="4902077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11111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Traditional Process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965176" y="4754563"/>
            <a:ext cx="513067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Paperwork → Manual Checking → Vote Records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24442" y="4349750"/>
            <a:ext cx="4902077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11111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Proposed Process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6324442" y="4754563"/>
            <a:ext cx="490207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Online Vote → Smart Contract → Blockchain Record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479421" y="123825"/>
            <a:ext cx="1356782" cy="311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50" kern="100" spc="35" dirty="0">
                <a:solidFill>
                  <a:srgbClr val="1E1E1C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03 / 10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6089498" y="4349750"/>
            <a:ext cx="12700" cy="653653"/>
          </a:xfrm>
          <a:prstGeom prst="rect">
            <a:avLst/>
          </a:prstGeom>
          <a:solidFill>
            <a:srgbClr val="111111"/>
          </a:solidFill>
          <a:ln/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1960" y="933396"/>
            <a:ext cx="4165496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51" dirty="0">
                <a:solidFill>
                  <a:srgbClr val="11111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Proposed Solution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08415" y="2420554"/>
            <a:ext cx="4165496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700" kern="100" spc="-40" dirty="0">
                <a:solidFill>
                  <a:srgbClr val="11111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Our Proposed System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895506" y="3001610"/>
            <a:ext cx="4165496" cy="2008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Administrator creates an election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Administrator adds candidates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Eligible voters are registered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Voter connects MetaMask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Voter casts one vote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Smart contract records the vote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Results are displayed after voting ends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172739" y="1042580"/>
            <a:ext cx="6095848" cy="401241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6" name="Text 4"/>
          <p:cNvSpPr/>
          <p:nvPr/>
        </p:nvSpPr>
        <p:spPr>
          <a:xfrm>
            <a:off x="5172739" y="1118780"/>
            <a:ext cx="609584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Admin Creates Election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172739" y="1443821"/>
            <a:ext cx="609584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2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72739" y="1657141"/>
            <a:ext cx="6095848" cy="401241"/>
          </a:xfrm>
          <a:prstGeom prst="rect">
            <a:avLst/>
          </a:prstGeom>
          <a:solidFill>
            <a:srgbClr val="EAE6DB"/>
          </a:solidFill>
          <a:ln/>
        </p:spPr>
      </p:sp>
      <p:sp>
        <p:nvSpPr>
          <p:cNvPr id="9" name="Text 7"/>
          <p:cNvSpPr/>
          <p:nvPr/>
        </p:nvSpPr>
        <p:spPr>
          <a:xfrm>
            <a:off x="5172739" y="1733341"/>
            <a:ext cx="609584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Add Candidates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172739" y="2058382"/>
            <a:ext cx="609584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2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72739" y="2271702"/>
            <a:ext cx="6095848" cy="401241"/>
          </a:xfrm>
          <a:prstGeom prst="rect">
            <a:avLst/>
          </a:prstGeom>
          <a:solidFill>
            <a:srgbClr val="EAE6DB"/>
          </a:solidFill>
          <a:ln/>
        </p:spPr>
      </p:sp>
      <p:sp>
        <p:nvSpPr>
          <p:cNvPr id="12" name="Text 10"/>
          <p:cNvSpPr/>
          <p:nvPr/>
        </p:nvSpPr>
        <p:spPr>
          <a:xfrm>
            <a:off x="5172739" y="2347902"/>
            <a:ext cx="609584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Register Voters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72739" y="2672943"/>
            <a:ext cx="609584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2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72739" y="2886263"/>
            <a:ext cx="6095848" cy="401241"/>
          </a:xfrm>
          <a:prstGeom prst="rect">
            <a:avLst/>
          </a:prstGeom>
          <a:solidFill>
            <a:srgbClr val="EAE6DB"/>
          </a:solidFill>
          <a:ln/>
        </p:spPr>
      </p:sp>
      <p:sp>
        <p:nvSpPr>
          <p:cNvPr id="15" name="Text 13"/>
          <p:cNvSpPr/>
          <p:nvPr/>
        </p:nvSpPr>
        <p:spPr>
          <a:xfrm>
            <a:off x="5172739" y="2962463"/>
            <a:ext cx="609584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Voter Connects MetaMask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72739" y="3287504"/>
            <a:ext cx="609584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2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172739" y="3500824"/>
            <a:ext cx="6095848" cy="401241"/>
          </a:xfrm>
          <a:prstGeom prst="rect">
            <a:avLst/>
          </a:prstGeom>
          <a:solidFill>
            <a:srgbClr val="EAE6DB"/>
          </a:solidFill>
          <a:ln/>
        </p:spPr>
      </p:sp>
      <p:sp>
        <p:nvSpPr>
          <p:cNvPr id="18" name="Text 16"/>
          <p:cNvSpPr/>
          <p:nvPr/>
        </p:nvSpPr>
        <p:spPr>
          <a:xfrm>
            <a:off x="5172739" y="3577024"/>
            <a:ext cx="609584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Select Candidate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72739" y="3902065"/>
            <a:ext cx="609584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2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172739" y="4115385"/>
            <a:ext cx="6095848" cy="401241"/>
          </a:xfrm>
          <a:prstGeom prst="rect">
            <a:avLst/>
          </a:prstGeom>
          <a:solidFill>
            <a:srgbClr val="EAE6DB"/>
          </a:solidFill>
          <a:ln/>
        </p:spPr>
      </p:sp>
      <p:sp>
        <p:nvSpPr>
          <p:cNvPr id="21" name="Text 19"/>
          <p:cNvSpPr/>
          <p:nvPr/>
        </p:nvSpPr>
        <p:spPr>
          <a:xfrm>
            <a:off x="5172739" y="4191585"/>
            <a:ext cx="609584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Smart Contract Checks Voter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72739" y="4516626"/>
            <a:ext cx="609584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2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172739" y="4729946"/>
            <a:ext cx="6095848" cy="401241"/>
          </a:xfrm>
          <a:prstGeom prst="rect">
            <a:avLst/>
          </a:prstGeom>
          <a:solidFill>
            <a:srgbClr val="EAE6DB"/>
          </a:solidFill>
          <a:ln/>
        </p:spPr>
      </p:sp>
      <p:sp>
        <p:nvSpPr>
          <p:cNvPr id="24" name="Text 22"/>
          <p:cNvSpPr/>
          <p:nvPr/>
        </p:nvSpPr>
        <p:spPr>
          <a:xfrm>
            <a:off x="5172739" y="4806146"/>
            <a:ext cx="609584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Vote Recorded on Blockchain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172739" y="5131187"/>
            <a:ext cx="6095848" cy="213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2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↓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172739" y="5344507"/>
            <a:ext cx="6095848" cy="401241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7" name="Text 25"/>
          <p:cNvSpPr/>
          <p:nvPr/>
        </p:nvSpPr>
        <p:spPr>
          <a:xfrm>
            <a:off x="5172739" y="5420707"/>
            <a:ext cx="609584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Results Displayed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462951" y="123825"/>
            <a:ext cx="1373252" cy="311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50" kern="100" spc="35" dirty="0">
                <a:solidFill>
                  <a:srgbClr val="1E1E1C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04 / 10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7430" y="799732"/>
            <a:ext cx="10261343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51" dirty="0">
                <a:solidFill>
                  <a:srgbClr val="11111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Project Objectives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1069680" y="1546656"/>
            <a:ext cx="10261343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700" kern="100" spc="-40" dirty="0">
                <a:solidFill>
                  <a:srgbClr val="11111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Objectives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69680" y="2101587"/>
            <a:ext cx="10261343" cy="171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Develop an online voting system using blockchain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Use a smart contract for recording votes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Allow each registered voter to vote only once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Let the administrator manage elections and candidates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Display voting results clearly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Understand blockchain and smart contract usage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7399" y="3966921"/>
            <a:ext cx="444489" cy="444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7399" y="4570171"/>
            <a:ext cx="3267985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11111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Blockchain</a:t>
            </a:r>
            <a:endParaRPr lang="en-US" sz="17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177" y="3966921"/>
            <a:ext cx="444489" cy="4445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860177" y="4570171"/>
            <a:ext cx="3115688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11111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Smart Contract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657" y="3966921"/>
            <a:ext cx="444489" cy="4445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80657" y="4570171"/>
            <a:ext cx="3268085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11111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One Vote</a:t>
            </a:r>
            <a:endParaRPr lang="en-US" sz="17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7399" y="5152784"/>
            <a:ext cx="444489" cy="4445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87399" y="5756034"/>
            <a:ext cx="3267985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11111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Admin Control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0177" y="5152784"/>
            <a:ext cx="444489" cy="4445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4860177" y="5756034"/>
            <a:ext cx="3115688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11111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Results</a:t>
            </a:r>
            <a:endParaRPr lang="en-US" sz="175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0657" y="5152784"/>
            <a:ext cx="444489" cy="4445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8280657" y="5756034"/>
            <a:ext cx="3268085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11111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Learning</a:t>
            </a:r>
            <a:endParaRPr lang="en-US" sz="1750" dirty="0"/>
          </a:p>
        </p:txBody>
      </p:sp>
      <p:sp>
        <p:nvSpPr>
          <p:cNvPr id="17" name="Text 9"/>
          <p:cNvSpPr/>
          <p:nvPr/>
        </p:nvSpPr>
        <p:spPr>
          <a:xfrm>
            <a:off x="10483985" y="123825"/>
            <a:ext cx="1352219" cy="311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50" kern="100" spc="35" dirty="0">
                <a:solidFill>
                  <a:srgbClr val="1E1E1C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05 / 10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5176" y="965200"/>
            <a:ext cx="10261343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51" dirty="0">
                <a:solidFill>
                  <a:srgbClr val="11111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Main Features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47758" y="2023211"/>
            <a:ext cx="2336742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Admin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47758" y="2499461"/>
            <a:ext cx="2336742" cy="1084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Create and manage elections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Add candidates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Register eligible voters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589292" y="2023211"/>
            <a:ext cx="2336742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Voter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589292" y="2499461"/>
            <a:ext cx="2336742" cy="5421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Connect MetaMask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Cast one vote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30826" y="2023211"/>
            <a:ext cx="2336742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Blockchain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230826" y="2499461"/>
            <a:ext cx="2336742" cy="1619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2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Record votes</a:t>
            </a:r>
            <a:endParaRPr lang="en-US" sz="12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2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Prevent repeated voting</a:t>
            </a:r>
            <a:endParaRPr lang="en-US" sz="12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2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Store the voting transaction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72360" y="2023211"/>
            <a:ext cx="2336742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dirty="0">
                <a:solidFill>
                  <a:srgbClr val="111111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Results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872360" y="2499461"/>
            <a:ext cx="2336742" cy="6878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View results after the election ends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5176" y="4990306"/>
            <a:ext cx="2336742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11111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Admin Panel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965176" y="5395119"/>
            <a:ext cx="256533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→ Election Management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59106" y="4990306"/>
            <a:ext cx="2108147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11111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Voter Panel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3759106" y="5395119"/>
            <a:ext cx="233674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→ MetaMask → Vote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24442" y="4990306"/>
            <a:ext cx="2108147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11111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Blockchain Layer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6324442" y="5395119"/>
            <a:ext cx="210814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→ Smart Contract → Vote Record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89778" y="4990306"/>
            <a:ext cx="2336742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111111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Results Page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8889778" y="5395119"/>
            <a:ext cx="233674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→ Candidate Vote Counts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470690" y="123825"/>
            <a:ext cx="1365513" cy="311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50" kern="100" spc="35" dirty="0">
                <a:solidFill>
                  <a:srgbClr val="1E1E1C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06 / 10</a:t>
            </a:r>
            <a:endParaRPr lang="en-US" sz="1750" dirty="0"/>
          </a:p>
        </p:txBody>
      </p:sp>
      <p:sp>
        <p:nvSpPr>
          <p:cNvPr id="21" name="Shape 19"/>
          <p:cNvSpPr/>
          <p:nvPr/>
        </p:nvSpPr>
        <p:spPr>
          <a:xfrm>
            <a:off x="3524162" y="4990306"/>
            <a:ext cx="12700" cy="90249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2" name="Shape 20"/>
          <p:cNvSpPr/>
          <p:nvPr/>
        </p:nvSpPr>
        <p:spPr>
          <a:xfrm>
            <a:off x="6089498" y="4990306"/>
            <a:ext cx="12700" cy="902494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23" name="Shape 21"/>
          <p:cNvSpPr/>
          <p:nvPr/>
        </p:nvSpPr>
        <p:spPr>
          <a:xfrm>
            <a:off x="8654833" y="4990306"/>
            <a:ext cx="12700" cy="902494"/>
          </a:xfrm>
          <a:prstGeom prst="rect">
            <a:avLst/>
          </a:prstGeom>
          <a:solidFill>
            <a:srgbClr val="111111"/>
          </a:solidFill>
          <a:ln/>
        </p:spPr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5176" y="965200"/>
            <a:ext cx="4013100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51" dirty="0">
                <a:solidFill>
                  <a:srgbClr val="11111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65176" y="1598910"/>
            <a:ext cx="4013100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700" kern="100" spc="-40" dirty="0">
                <a:solidFill>
                  <a:srgbClr val="11111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Technologies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5176" y="2153841"/>
          <a:ext cx="4013100" cy="3420580"/>
        </p:xfrm>
        <a:graphic>
          <a:graphicData uri="http://schemas.openxmlformats.org/drawingml/2006/table">
            <a:tbl>
              <a:tblPr/>
              <a:tblGrid>
                <a:gridCol w="136442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64867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Technology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11111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Purpose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1E1C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Solidity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1E1C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Smart contract development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1E1C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Ethereum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1E1C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Blockchain testing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1E1C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MetaMask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1E1C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Wallet connection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6460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1E1C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Ethers.js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1E1C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Website connection with smart contract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1E1C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HTML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1E1C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Website structure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972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1E1C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CSS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1E1C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Website styling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9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909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1E1C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JavaScript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1E1E1C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Website functionality</a:t>
                      </a:r>
                      <a:endParaRPr lang="en-US" sz="14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9B7B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4F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213420" y="1112044"/>
            <a:ext cx="401231" cy="911225"/>
          </a:xfrm>
          <a:prstGeom prst="roundRect">
            <a:avLst>
              <a:gd name="adj" fmla="val 6647"/>
            </a:avLst>
          </a:prstGeom>
          <a:solidFill>
            <a:srgbClr val="E6E6E6"/>
          </a:solidFill>
          <a:ln/>
        </p:spPr>
      </p:sp>
      <p:sp>
        <p:nvSpPr>
          <p:cNvPr id="6" name="Text 3"/>
          <p:cNvSpPr/>
          <p:nvPr/>
        </p:nvSpPr>
        <p:spPr>
          <a:xfrm>
            <a:off x="7391215" y="1430139"/>
            <a:ext cx="159143" cy="2749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kern="100" spc="-26" dirty="0">
                <a:solidFill>
                  <a:srgbClr val="1E1E1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7792446" y="1289844"/>
            <a:ext cx="3256278" cy="555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100" spc="-26" dirty="0">
                <a:solidFill>
                  <a:srgbClr val="1E1E1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User Interface (HTML + CSS + JavaScript)</a:t>
            </a:r>
            <a:endParaRPr lang="en-US" sz="1750" dirty="0"/>
          </a:p>
        </p:txBody>
      </p:sp>
      <p:sp>
        <p:nvSpPr>
          <p:cNvPr id="4" name="Shape 5"/>
          <p:cNvSpPr/>
          <p:nvPr/>
        </p:nvSpPr>
        <p:spPr>
          <a:xfrm>
            <a:off x="7703548" y="2018506"/>
            <a:ext cx="3434073" cy="9525"/>
          </a:xfrm>
          <a:prstGeom prst="roundRect">
            <a:avLst>
              <a:gd name="adj" fmla="val 49999"/>
            </a:avLst>
          </a:prstGeom>
          <a:solidFill>
            <a:srgbClr val="CCCCCC"/>
          </a:solidFill>
          <a:ln/>
        </p:spPr>
      </p:sp>
      <p:sp>
        <p:nvSpPr>
          <p:cNvPr id="9" name="Shape 6"/>
          <p:cNvSpPr/>
          <p:nvPr/>
        </p:nvSpPr>
        <p:spPr>
          <a:xfrm>
            <a:off x="7213420" y="2112169"/>
            <a:ext cx="802560" cy="911225"/>
          </a:xfrm>
          <a:prstGeom prst="roundRect">
            <a:avLst>
              <a:gd name="adj" fmla="val 3323"/>
            </a:avLst>
          </a:prstGeom>
          <a:solidFill>
            <a:srgbClr val="E6E6E6"/>
          </a:solidFill>
          <a:ln/>
        </p:spPr>
      </p:sp>
      <p:sp>
        <p:nvSpPr>
          <p:cNvPr id="10" name="Text 7"/>
          <p:cNvSpPr/>
          <p:nvPr/>
        </p:nvSpPr>
        <p:spPr>
          <a:xfrm>
            <a:off x="7489737" y="2430264"/>
            <a:ext cx="249926" cy="2749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kern="100" spc="-26" dirty="0">
                <a:solidFill>
                  <a:srgbClr val="1E1E1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8193775" y="2289969"/>
            <a:ext cx="2854948" cy="555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100" spc="-26" dirty="0">
                <a:solidFill>
                  <a:srgbClr val="1E1E1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Blockchain Connection (Ethers.js)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8104878" y="3018631"/>
            <a:ext cx="3032744" cy="9525"/>
          </a:xfrm>
          <a:prstGeom prst="roundRect">
            <a:avLst>
              <a:gd name="adj" fmla="val 49999"/>
            </a:avLst>
          </a:prstGeom>
          <a:solidFill>
            <a:srgbClr val="CCCCCC"/>
          </a:solidFill>
          <a:ln/>
        </p:spPr>
      </p:sp>
      <p:sp>
        <p:nvSpPr>
          <p:cNvPr id="13" name="Shape 10"/>
          <p:cNvSpPr/>
          <p:nvPr/>
        </p:nvSpPr>
        <p:spPr>
          <a:xfrm>
            <a:off x="7213420" y="3112294"/>
            <a:ext cx="1203890" cy="633412"/>
          </a:xfrm>
          <a:prstGeom prst="roundRect">
            <a:avLst>
              <a:gd name="adj" fmla="val 4210"/>
            </a:avLst>
          </a:prstGeom>
          <a:solidFill>
            <a:srgbClr val="E6E6E6"/>
          </a:solidFill>
          <a:ln/>
        </p:spPr>
      </p:sp>
      <p:sp>
        <p:nvSpPr>
          <p:cNvPr id="14" name="Text 11"/>
          <p:cNvSpPr/>
          <p:nvPr/>
        </p:nvSpPr>
        <p:spPr>
          <a:xfrm>
            <a:off x="7690352" y="3291483"/>
            <a:ext cx="249926" cy="2749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kern="100" spc="-26" dirty="0">
                <a:solidFill>
                  <a:srgbClr val="1E1E1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8595105" y="3290094"/>
            <a:ext cx="2453618" cy="2778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100" spc="-26" dirty="0">
                <a:solidFill>
                  <a:srgbClr val="1E1E1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Wallet (MetaMask)</a:t>
            </a:r>
            <a:endParaRPr lang="en-US" sz="1750" dirty="0"/>
          </a:p>
        </p:txBody>
      </p:sp>
      <p:sp>
        <p:nvSpPr>
          <p:cNvPr id="16" name="Shape 13"/>
          <p:cNvSpPr/>
          <p:nvPr/>
        </p:nvSpPr>
        <p:spPr>
          <a:xfrm>
            <a:off x="8506208" y="3740944"/>
            <a:ext cx="2631414" cy="9525"/>
          </a:xfrm>
          <a:prstGeom prst="roundRect">
            <a:avLst>
              <a:gd name="adj" fmla="val 49999"/>
            </a:avLst>
          </a:prstGeom>
          <a:solidFill>
            <a:srgbClr val="CCCCCC"/>
          </a:solidFill>
          <a:ln/>
        </p:spPr>
      </p:sp>
      <p:sp>
        <p:nvSpPr>
          <p:cNvPr id="17" name="Shape 14"/>
          <p:cNvSpPr/>
          <p:nvPr/>
        </p:nvSpPr>
        <p:spPr>
          <a:xfrm>
            <a:off x="7213420" y="3834606"/>
            <a:ext cx="1605220" cy="911225"/>
          </a:xfrm>
          <a:prstGeom prst="roundRect">
            <a:avLst>
              <a:gd name="adj" fmla="val 2927"/>
            </a:avLst>
          </a:prstGeom>
          <a:solidFill>
            <a:srgbClr val="E6E6E6"/>
          </a:solidFill>
          <a:ln/>
        </p:spPr>
      </p:sp>
      <p:sp>
        <p:nvSpPr>
          <p:cNvPr id="18" name="Text 15"/>
          <p:cNvSpPr/>
          <p:nvPr/>
        </p:nvSpPr>
        <p:spPr>
          <a:xfrm>
            <a:off x="7891067" y="4152702"/>
            <a:ext cx="249926" cy="2749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kern="100" spc="-26" dirty="0">
                <a:solidFill>
                  <a:srgbClr val="1E1E1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8996435" y="4012406"/>
            <a:ext cx="2052289" cy="555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100" spc="-26" dirty="0">
                <a:solidFill>
                  <a:srgbClr val="1E1E1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Smart Contract (Solidity)</a:t>
            </a:r>
            <a:endParaRPr lang="en-US" sz="1750" dirty="0"/>
          </a:p>
        </p:txBody>
      </p:sp>
      <p:sp>
        <p:nvSpPr>
          <p:cNvPr id="20" name="Shape 17"/>
          <p:cNvSpPr/>
          <p:nvPr/>
        </p:nvSpPr>
        <p:spPr>
          <a:xfrm>
            <a:off x="8907537" y="4741069"/>
            <a:ext cx="2230084" cy="9525"/>
          </a:xfrm>
          <a:prstGeom prst="roundRect">
            <a:avLst>
              <a:gd name="adj" fmla="val 49999"/>
            </a:avLst>
          </a:prstGeom>
          <a:solidFill>
            <a:srgbClr val="CCCCCC"/>
          </a:solidFill>
          <a:ln/>
        </p:spPr>
      </p:sp>
      <p:sp>
        <p:nvSpPr>
          <p:cNvPr id="21" name="Shape 18"/>
          <p:cNvSpPr/>
          <p:nvPr/>
        </p:nvSpPr>
        <p:spPr>
          <a:xfrm>
            <a:off x="7213420" y="4834731"/>
            <a:ext cx="2006550" cy="911225"/>
          </a:xfrm>
          <a:prstGeom prst="roundRect">
            <a:avLst>
              <a:gd name="adj" fmla="val 2927"/>
            </a:avLst>
          </a:prstGeom>
          <a:solidFill>
            <a:srgbClr val="E6E6E6"/>
          </a:solidFill>
          <a:ln/>
        </p:spPr>
      </p:sp>
      <p:sp>
        <p:nvSpPr>
          <p:cNvPr id="22" name="Text 19"/>
          <p:cNvSpPr/>
          <p:nvPr/>
        </p:nvSpPr>
        <p:spPr>
          <a:xfrm>
            <a:off x="8091682" y="5152827"/>
            <a:ext cx="249926" cy="2749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950" kern="100" spc="-26" dirty="0">
                <a:solidFill>
                  <a:srgbClr val="1E1E1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5</a:t>
            </a:r>
            <a:endParaRPr lang="en-US" sz="1950" dirty="0"/>
          </a:p>
        </p:txBody>
      </p:sp>
      <p:sp>
        <p:nvSpPr>
          <p:cNvPr id="23" name="Text 20"/>
          <p:cNvSpPr/>
          <p:nvPr/>
        </p:nvSpPr>
        <p:spPr>
          <a:xfrm>
            <a:off x="9397765" y="5012531"/>
            <a:ext cx="1650959" cy="555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kern="100" spc="-26" dirty="0">
                <a:solidFill>
                  <a:srgbClr val="1E1E1C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Blockchain (Ethereum)</a:t>
            </a:r>
            <a:endParaRPr lang="en-US" sz="1750" dirty="0"/>
          </a:p>
        </p:txBody>
      </p:sp>
      <p:sp>
        <p:nvSpPr>
          <p:cNvPr id="24" name="Text 21"/>
          <p:cNvSpPr/>
          <p:nvPr/>
        </p:nvSpPr>
        <p:spPr>
          <a:xfrm>
            <a:off x="10482893" y="123825"/>
            <a:ext cx="1353310" cy="311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50" kern="100" spc="35" dirty="0">
                <a:solidFill>
                  <a:srgbClr val="1E1E1C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07 / 10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crush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5176" y="965200"/>
            <a:ext cx="3545791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51" dirty="0">
                <a:solidFill>
                  <a:srgbClr val="11111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How the System Will Work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65176" y="2073870"/>
            <a:ext cx="3545791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700" kern="100" spc="-40" dirty="0">
                <a:solidFill>
                  <a:srgbClr val="11111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Voting Process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65176" y="2628801"/>
            <a:ext cx="3545791" cy="3092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Administrator creates an election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Candidates are added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Eligible voters are registered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Voter connects MetaMask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Voter selects a candidate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 startAt="6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Smart contract checks registration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 startAt="7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Smart contract checks whether the voter already voted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 startAt="8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Valid vote is recorded on blockchain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Font typeface="+mj-lt"/>
              <a:buAutoNum type="arabicPeriod" startAt="9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Results are shown after the election ends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408" y="1010245"/>
            <a:ext cx="4328111" cy="48374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72972" y="123825"/>
            <a:ext cx="1363232" cy="311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50" kern="100" spc="35" dirty="0">
                <a:solidFill>
                  <a:srgbClr val="1E1E1C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08 / 10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5176" y="965200"/>
            <a:ext cx="10261343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51" dirty="0">
                <a:solidFill>
                  <a:srgbClr val="11111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Expected Outcome and Project Scope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82594" y="1687632"/>
            <a:ext cx="4902077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700" kern="100" spc="-40" dirty="0">
                <a:solidFill>
                  <a:srgbClr val="11111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Expected Outcome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82594" y="2242563"/>
            <a:ext cx="4902077" cy="1422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 working web voting application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Suitable for a small university or class election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Votes recorded through blockchain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Voting transactions can be demonstrated and verified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Results shown clearly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41860" y="1687632"/>
            <a:ext cx="4902077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700" kern="100" spc="-40" dirty="0">
                <a:solidFill>
                  <a:srgbClr val="11111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Project Scope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341860" y="2242563"/>
            <a:ext cx="4902077" cy="1128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Educational prototype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University or classroom elections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Focus on learning blockchain concepts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Not designed for national or government elections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4973" y="3953697"/>
            <a:ext cx="6178015" cy="3436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kern="100" spc="88" dirty="0">
                <a:solidFill>
                  <a:srgbClr val="4F4F4B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INSIDE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4015" y="4273165"/>
            <a:ext cx="7144661" cy="188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5750" indent="-285750" algn="l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University Election </a:t>
            </a:r>
            <a:endParaRPr lang="en-US" sz="1400" dirty="0" smtClean="0">
              <a:solidFill>
                <a:srgbClr val="1E1E1C"/>
              </a:solidFill>
              <a:latin typeface="Host Grotesk" pitchFamily="34" charset="0"/>
              <a:ea typeface="Host Grotesk" pitchFamily="34" charset="-122"/>
              <a:cs typeface="Host Grotesk" pitchFamily="34" charset="-120"/>
            </a:endParaRPr>
          </a:p>
          <a:p>
            <a:pPr marL="285750" indent="-285750" algn="l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Class Election</a:t>
            </a:r>
          </a:p>
          <a:p>
            <a:pPr marL="285750" indent="-285750" algn="l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Societies Election</a:t>
            </a:r>
          </a:p>
          <a:p>
            <a:pPr marL="285750" indent="-285750" algn="l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Blockchain Demonstration</a:t>
            </a:r>
          </a:p>
          <a:p>
            <a:pPr marL="285750" indent="-285750" algn="l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Smart </a:t>
            </a: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Contract Learning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96157" y="3918861"/>
            <a:ext cx="2057348" cy="380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kern="100" spc="88" dirty="0">
                <a:solidFill>
                  <a:srgbClr val="4F4F4B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OUTSIDE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43904" y="4299292"/>
            <a:ext cx="3051111" cy="1274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National Elections </a:t>
            </a:r>
            <a:endParaRPr lang="en-US" sz="1400" dirty="0" smtClean="0">
              <a:solidFill>
                <a:srgbClr val="1E1E1C"/>
              </a:solidFill>
              <a:latin typeface="Host Grotesk" pitchFamily="34" charset="0"/>
              <a:ea typeface="Host Grotesk" pitchFamily="34" charset="-122"/>
              <a:cs typeface="Host Grotesk" pitchFamily="34" charset="-120"/>
            </a:endParaRPr>
          </a:p>
          <a:p>
            <a:pPr marL="285750" indent="-285750" algn="l">
              <a:lnSpc>
                <a:spcPct val="117000"/>
              </a:lnSpc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Government </a:t>
            </a: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Elections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470690" y="123825"/>
            <a:ext cx="1365513" cy="311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50" kern="100" spc="35" dirty="0">
                <a:solidFill>
                  <a:srgbClr val="1E1E1C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09 / 10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8138865" y="3294024"/>
            <a:ext cx="12700" cy="2971800"/>
          </a:xfrm>
          <a:prstGeom prst="rect">
            <a:avLst/>
          </a:prstGeom>
          <a:solidFill>
            <a:srgbClr val="111111"/>
          </a:solidFill>
          <a:ln/>
        </p:spPr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5176" y="965200"/>
            <a:ext cx="10261343" cy="474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400" kern="100" spc="-51" dirty="0">
                <a:solidFill>
                  <a:srgbClr val="11111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991303" y="1816631"/>
            <a:ext cx="10261343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700" kern="100" spc="-40" dirty="0">
                <a:solidFill>
                  <a:srgbClr val="111111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Conclusion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91303" y="2371562"/>
            <a:ext cx="10261343" cy="14220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Simple practical use of blockchain in voting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Demonstrates smart contract based vote recording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Shows how digital wallets connect with blockchain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Helps understand blockchain transactions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Demonstrates a decentralized application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91303" y="4169901"/>
            <a:ext cx="1014696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1E1E1C"/>
                </a:solidFill>
                <a:latin typeface="Host Grotesk Bold" pitchFamily="34" charset="0"/>
                <a:ea typeface="Host Grotesk Bold" pitchFamily="34" charset="-122"/>
                <a:cs typeface="Host Grotesk Bold" pitchFamily="34" charset="-120"/>
              </a:rPr>
              <a:t>Final Flow:</a:t>
            </a: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 Voter → Website → MetaMask → Smart Contract → Blockchain → Results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91303" y="4577492"/>
            <a:ext cx="1583194" cy="954881"/>
          </a:xfrm>
          <a:prstGeom prst="roundRect">
            <a:avLst>
              <a:gd name="adj" fmla="val 2793"/>
            </a:avLst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1303" y="4825142"/>
            <a:ext cx="158319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Voter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26893" y="4577492"/>
            <a:ext cx="1583194" cy="954881"/>
          </a:xfrm>
          <a:prstGeom prst="roundRect">
            <a:avLst>
              <a:gd name="adj" fmla="val 2793"/>
            </a:avLst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26893" y="4825142"/>
            <a:ext cx="158319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Website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62483" y="4577492"/>
            <a:ext cx="1583293" cy="954881"/>
          </a:xfrm>
          <a:prstGeom prst="roundRect">
            <a:avLst>
              <a:gd name="adj" fmla="val 2793"/>
            </a:avLst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62483" y="4825142"/>
            <a:ext cx="158329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MetaMask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98173" y="4577492"/>
            <a:ext cx="1583194" cy="954881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3" name="Text 11"/>
          <p:cNvSpPr/>
          <p:nvPr/>
        </p:nvSpPr>
        <p:spPr>
          <a:xfrm>
            <a:off x="6426767" y="4806092"/>
            <a:ext cx="112600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Smart Contract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933763" y="4577492"/>
            <a:ext cx="1583194" cy="954881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15" name="Text 13"/>
          <p:cNvSpPr/>
          <p:nvPr/>
        </p:nvSpPr>
        <p:spPr>
          <a:xfrm>
            <a:off x="7933763" y="4806092"/>
            <a:ext cx="158319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Blockchain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69353" y="4577492"/>
            <a:ext cx="1583293" cy="954881"/>
          </a:xfrm>
          <a:prstGeom prst="roundRect">
            <a:avLst>
              <a:gd name="adj" fmla="val 2793"/>
            </a:avLst>
          </a:prstGeom>
          <a:noFill/>
          <a:ln w="190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69353" y="4825142"/>
            <a:ext cx="158329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400" dirty="0">
                <a:solidFill>
                  <a:srgbClr val="1E1E1C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Results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498470" y="123825"/>
            <a:ext cx="1337733" cy="311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50" kern="100" spc="35" dirty="0">
                <a:solidFill>
                  <a:srgbClr val="1E1E1C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10 / 10</a:t>
            </a:r>
            <a:endParaRPr lang="en-US" sz="17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16"/>
          <p:cNvSpPr/>
          <p:nvPr/>
        </p:nvSpPr>
        <p:spPr>
          <a:xfrm>
            <a:off x="10498470" y="123825"/>
            <a:ext cx="1337733" cy="3111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50" kern="100" spc="35" dirty="0" smtClean="0">
                <a:solidFill>
                  <a:srgbClr val="1E1E1C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11 </a:t>
            </a:r>
            <a:r>
              <a:rPr lang="en-US" sz="1750" kern="100" spc="35" dirty="0">
                <a:solidFill>
                  <a:srgbClr val="1E1E1C"/>
                </a:solidFill>
                <a:latin typeface="Bodoni Moda" pitchFamily="34" charset="0"/>
                <a:ea typeface="Bodoni Moda" pitchFamily="34" charset="-122"/>
                <a:cs typeface="Bodoni Moda" pitchFamily="34" charset="-120"/>
              </a:rPr>
              <a:t>/ 10</a:t>
            </a:r>
            <a:endParaRPr lang="en-US" sz="1750" dirty="0"/>
          </a:p>
        </p:txBody>
      </p:sp>
      <p:pic>
        <p:nvPicPr>
          <p:cNvPr id="1026" name="Picture 2" descr="https://i.pinimg.com/736x/04/e0/9d/04e09d2acf988be7cad32aea56bf661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0066" y="795445"/>
            <a:ext cx="7010400" cy="5257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97437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23</TotalTime>
  <Words>608</Words>
  <Application>Microsoft Office PowerPoint</Application>
  <PresentationFormat>Widescreen</PresentationFormat>
  <Paragraphs>197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Host Grotesk Medium</vt:lpstr>
      <vt:lpstr>Arial</vt:lpstr>
      <vt:lpstr>Garamond</vt:lpstr>
      <vt:lpstr>Host Grotesk</vt:lpstr>
      <vt:lpstr>Bodoni Moda</vt:lpstr>
      <vt:lpstr>Aptos</vt:lpstr>
      <vt:lpstr>Host Grotesk Bold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Microsoft account</cp:lastModifiedBy>
  <cp:revision>17</cp:revision>
  <dcterms:created xsi:type="dcterms:W3CDTF">2026-10-03T13:39:29Z</dcterms:created>
  <dcterms:modified xsi:type="dcterms:W3CDTF">2026-10-24T18:57:20Z</dcterms:modified>
</cp:coreProperties>
</file>