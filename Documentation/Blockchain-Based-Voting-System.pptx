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Bodoni Moda" panose="020B0604020202020204" charset="0"/>
      <p:regular r:id="rId13"/>
    </p:embeddedFont>
    <p:embeddedFont>
      <p:font typeface="Host Grotesk" panose="020B0604020202020204" charset="0"/>
      <p:regular r:id="rId14"/>
    </p:embeddedFont>
    <p:embeddedFont>
      <p:font typeface="Host Grotesk Bold" panose="020B0604020202020204" charset="0"/>
      <p:regular r:id="rId15"/>
    </p:embeddedFont>
    <p:embeddedFont>
      <p:font typeface="Host Grotesk Medium" panose="020B0604020202020204" charset="0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9" d="100"/>
          <a:sy n="69" d="100"/>
        </p:scale>
        <p:origin x="54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15987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7FC9A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5176" y="965200"/>
            <a:ext cx="4328111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4000" kern="100" spc="640" dirty="0">
                <a:solidFill>
                  <a:srgbClr val="111111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BLOCKCHAIN BASED VOTING SYSTEM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965176" y="3321050"/>
            <a:ext cx="4328012" cy="19050"/>
          </a:xfrm>
          <a:prstGeom prst="roundRect">
            <a:avLst>
              <a:gd name="adj" fmla="val 49999"/>
            </a:avLst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965176" y="3686175"/>
            <a:ext cx="4328111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Project Proposal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965176" y="4090988"/>
            <a:ext cx="4937696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Presented by: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5176" y="4498578"/>
            <a:ext cx="4328111" cy="542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Sharaiz Ahmed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Abdul Moiz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5176" y="5199459"/>
            <a:ext cx="4328111" cy="656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7000"/>
              </a:lnSpc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1E1E1C"/>
                </a:solidFill>
                <a:latin typeface="Host Grotesk Bold" pitchFamily="34" charset="0"/>
                <a:ea typeface="Host Grotesk Bold" pitchFamily="34" charset="-122"/>
                <a:cs typeface="Host Grotesk Bold" pitchFamily="34" charset="-120"/>
              </a:rPr>
              <a:t>Course:</a:t>
            </a: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 Introduction to Crypto &amp; Blockchain</a:t>
            </a:r>
            <a:endParaRPr lang="en-US" sz="14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400" b="1" dirty="0">
                <a:solidFill>
                  <a:srgbClr val="1E1E1C"/>
                </a:solidFill>
                <a:latin typeface="Host Grotesk Bold" pitchFamily="34" charset="0"/>
                <a:ea typeface="Host Grotesk Bold" pitchFamily="34" charset="-122"/>
                <a:cs typeface="Host Grotesk Bold" pitchFamily="34" charset="-120"/>
              </a:rPr>
              <a:t>University:</a:t>
            </a: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 Riphah International University</a:t>
            </a:r>
            <a:endParaRPr lang="en-US" sz="14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728" y="1028700"/>
            <a:ext cx="533387" cy="142875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391910" y="1206500"/>
            <a:ext cx="2834609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Voter</a:t>
            </a:r>
            <a:endParaRPr lang="en-US" sz="17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7421" y="2273300"/>
            <a:ext cx="533387" cy="142875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658604" y="2451100"/>
            <a:ext cx="2567915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Website</a:t>
            </a:r>
            <a:endParaRPr lang="en-US" sz="175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4115" y="3517900"/>
            <a:ext cx="533387" cy="142875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925297" y="3695700"/>
            <a:ext cx="2301222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Smart Contract</a:t>
            </a:r>
            <a:endParaRPr lang="en-US" sz="175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808" y="4762500"/>
            <a:ext cx="533387" cy="142875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191990" y="4940300"/>
            <a:ext cx="2034529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Blockchain</a:t>
            </a:r>
            <a:endParaRPr lang="en-US" sz="1750" dirty="0"/>
          </a:p>
        </p:txBody>
      </p:sp>
      <p:sp>
        <p:nvSpPr>
          <p:cNvPr id="16" name="Text 10"/>
          <p:cNvSpPr/>
          <p:nvPr/>
        </p:nvSpPr>
        <p:spPr>
          <a:xfrm>
            <a:off x="10498470" y="123825"/>
            <a:ext cx="1337733" cy="311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50" kern="100" spc="35" dirty="0">
                <a:solidFill>
                  <a:srgbClr val="1E1E1C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01 / 10</a:t>
            </a:r>
            <a:endParaRPr lang="en-US" sz="175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870F18B-0B58-5F94-C9E7-1F7F9A591CA2}"/>
              </a:ext>
            </a:extLst>
          </p:cNvPr>
          <p:cNvSpPr/>
          <p:nvPr/>
        </p:nvSpPr>
        <p:spPr>
          <a:xfrm>
            <a:off x="11119104" y="6620256"/>
            <a:ext cx="960120" cy="11391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5176" y="965200"/>
            <a:ext cx="4328111" cy="4749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400" kern="100" spc="-51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Introduction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5176" y="2678013"/>
            <a:ext cx="4328111" cy="377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700" kern="100" spc="-40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What is the Project?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65176" y="3232944"/>
            <a:ext cx="4328111" cy="1422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A web based voting application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Designed for university or class elections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Registered users can cast their vote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Votes are recorded on blockchain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Results can be checked easily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680728" y="1667669"/>
            <a:ext cx="355591" cy="633412"/>
          </a:xfrm>
          <a:prstGeom prst="roundRect">
            <a:avLst>
              <a:gd name="adj" fmla="val 7500"/>
            </a:avLst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7858524" y="1846858"/>
            <a:ext cx="159143" cy="2749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8214115" y="1845469"/>
            <a:ext cx="2834609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Administrator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8125217" y="2296319"/>
            <a:ext cx="3012404" cy="9525"/>
          </a:xfrm>
          <a:prstGeom prst="roundRect">
            <a:avLst>
              <a:gd name="adj" fmla="val 49999"/>
            </a:avLst>
          </a:prstGeom>
          <a:solidFill>
            <a:srgbClr val="CCCCCC"/>
          </a:solidFill>
          <a:ln/>
        </p:spPr>
      </p:sp>
      <p:sp>
        <p:nvSpPr>
          <p:cNvPr id="9" name="Shape 7"/>
          <p:cNvSpPr/>
          <p:nvPr/>
        </p:nvSpPr>
        <p:spPr>
          <a:xfrm>
            <a:off x="7680728" y="2389981"/>
            <a:ext cx="709099" cy="633412"/>
          </a:xfrm>
          <a:prstGeom prst="roundRect">
            <a:avLst>
              <a:gd name="adj" fmla="val 4210"/>
            </a:avLst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910315" y="2569170"/>
            <a:ext cx="249926" cy="2749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2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8567622" y="2567781"/>
            <a:ext cx="2481101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Voting Website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8478725" y="3018631"/>
            <a:ext cx="2658897" cy="9525"/>
          </a:xfrm>
          <a:prstGeom prst="roundRect">
            <a:avLst>
              <a:gd name="adj" fmla="val 49999"/>
            </a:avLst>
          </a:prstGeom>
          <a:solidFill>
            <a:srgbClr val="CCCCCC"/>
          </a:solidFill>
          <a:ln/>
        </p:spPr>
      </p:sp>
      <p:sp>
        <p:nvSpPr>
          <p:cNvPr id="13" name="Shape 11"/>
          <p:cNvSpPr/>
          <p:nvPr/>
        </p:nvSpPr>
        <p:spPr>
          <a:xfrm>
            <a:off x="7680728" y="3112294"/>
            <a:ext cx="1063698" cy="633412"/>
          </a:xfrm>
          <a:prstGeom prst="roundRect">
            <a:avLst>
              <a:gd name="adj" fmla="val 4210"/>
            </a:avLst>
          </a:prstGeom>
          <a:solidFill>
            <a:srgbClr val="E6E6E6"/>
          </a:solidFill>
          <a:ln/>
        </p:spPr>
      </p:sp>
      <p:sp>
        <p:nvSpPr>
          <p:cNvPr id="14" name="Text 12"/>
          <p:cNvSpPr/>
          <p:nvPr/>
        </p:nvSpPr>
        <p:spPr>
          <a:xfrm>
            <a:off x="8087614" y="3291483"/>
            <a:ext cx="249926" cy="2749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3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8922221" y="3290094"/>
            <a:ext cx="2126502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Registered Voter</a:t>
            </a:r>
            <a:endParaRPr lang="en-US" sz="1750" dirty="0"/>
          </a:p>
        </p:txBody>
      </p:sp>
      <p:sp>
        <p:nvSpPr>
          <p:cNvPr id="16" name="Shape 14"/>
          <p:cNvSpPr/>
          <p:nvPr/>
        </p:nvSpPr>
        <p:spPr>
          <a:xfrm>
            <a:off x="8833324" y="3740944"/>
            <a:ext cx="2304298" cy="9525"/>
          </a:xfrm>
          <a:prstGeom prst="roundRect">
            <a:avLst>
              <a:gd name="adj" fmla="val 49999"/>
            </a:avLst>
          </a:prstGeom>
          <a:solidFill>
            <a:srgbClr val="CCCCCC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728" y="3834606"/>
            <a:ext cx="1418297" cy="633412"/>
          </a:xfrm>
          <a:prstGeom prst="roundRect">
            <a:avLst>
              <a:gd name="adj" fmla="val 4210"/>
            </a:avLst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8264914" y="4013795"/>
            <a:ext cx="249926" cy="2749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4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9276820" y="4012406"/>
            <a:ext cx="1771903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Smart Contract</a:t>
            </a:r>
            <a:endParaRPr lang="en-US" sz="1750" dirty="0"/>
          </a:p>
        </p:txBody>
      </p:sp>
      <p:sp>
        <p:nvSpPr>
          <p:cNvPr id="20" name="Shape 18"/>
          <p:cNvSpPr/>
          <p:nvPr/>
        </p:nvSpPr>
        <p:spPr>
          <a:xfrm>
            <a:off x="9187922" y="4463256"/>
            <a:ext cx="1949699" cy="9525"/>
          </a:xfrm>
          <a:prstGeom prst="roundRect">
            <a:avLst>
              <a:gd name="adj" fmla="val 49999"/>
            </a:avLst>
          </a:prstGeom>
          <a:solidFill>
            <a:srgbClr val="CCCCCC"/>
          </a:solidFill>
          <a:ln/>
        </p:spPr>
      </p:sp>
      <p:sp>
        <p:nvSpPr>
          <p:cNvPr id="21" name="Shape 19"/>
          <p:cNvSpPr/>
          <p:nvPr/>
        </p:nvSpPr>
        <p:spPr>
          <a:xfrm>
            <a:off x="7680728" y="4556919"/>
            <a:ext cx="1772895" cy="633412"/>
          </a:xfrm>
          <a:prstGeom prst="roundRect">
            <a:avLst>
              <a:gd name="adj" fmla="val 4210"/>
            </a:avLst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8442213" y="4736108"/>
            <a:ext cx="249926" cy="2749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5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631419" y="4734719"/>
            <a:ext cx="1417304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Blockchain</a:t>
            </a:r>
            <a:endParaRPr lang="en-US" sz="1750" dirty="0"/>
          </a:p>
        </p:txBody>
      </p:sp>
      <p:sp>
        <p:nvSpPr>
          <p:cNvPr id="24" name="Text 22"/>
          <p:cNvSpPr/>
          <p:nvPr/>
        </p:nvSpPr>
        <p:spPr>
          <a:xfrm>
            <a:off x="10472972" y="123825"/>
            <a:ext cx="1363232" cy="311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50" kern="100" spc="35" dirty="0">
                <a:solidFill>
                  <a:srgbClr val="1E1E1C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02 / 10</a:t>
            </a:r>
            <a:endParaRPr lang="en-US" sz="175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16B4B6A-CC41-E23B-A9D6-81198F184C43}"/>
              </a:ext>
            </a:extLst>
          </p:cNvPr>
          <p:cNvSpPr/>
          <p:nvPr/>
        </p:nvSpPr>
        <p:spPr>
          <a:xfrm>
            <a:off x="11137622" y="6595630"/>
            <a:ext cx="906596" cy="13941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5176" y="1854597"/>
            <a:ext cx="10261343" cy="4749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400" kern="100" spc="-51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Problem Statement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5176" y="2507357"/>
            <a:ext cx="4978275" cy="377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700" kern="100" spc="-40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Current Problems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65176" y="3062288"/>
            <a:ext cx="4978275" cy="11287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Traditional voting can involve paperwork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Manual work can take more time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Online voting can raise concerns about changing records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Voting records may need stronger protection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248244" y="2507357"/>
            <a:ext cx="4978275" cy="377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700" kern="100" spc="-40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Our Focus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248244" y="3062288"/>
            <a:ext cx="4978275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Use blockchain to store voting records in a way that is difficult to change after recording.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5176" y="4349750"/>
            <a:ext cx="4902077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Traditional Process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965176" y="4754563"/>
            <a:ext cx="5130672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Paperwork → Manual Checking → Vote Records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324442" y="4349750"/>
            <a:ext cx="4902077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Proposed Process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6324442" y="4754563"/>
            <a:ext cx="4902077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Online Vote → Smart Contract → Blockchain Record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479421" y="123825"/>
            <a:ext cx="1356782" cy="311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50" kern="100" spc="35" dirty="0">
                <a:solidFill>
                  <a:srgbClr val="1E1E1C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03 / 10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6089498" y="4349750"/>
            <a:ext cx="12700" cy="653653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1881BAF-E846-9C17-FEF0-90A5E50E48EF}"/>
              </a:ext>
            </a:extLst>
          </p:cNvPr>
          <p:cNvSpPr/>
          <p:nvPr/>
        </p:nvSpPr>
        <p:spPr>
          <a:xfrm>
            <a:off x="11137622" y="6614102"/>
            <a:ext cx="906596" cy="13941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5176" y="1830387"/>
            <a:ext cx="4165496" cy="4749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400" kern="100" spc="-51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Proposed Solution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5176" y="2464098"/>
            <a:ext cx="4165496" cy="377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700" kern="100" spc="-40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Our Proposed System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65176" y="3019028"/>
            <a:ext cx="4165496" cy="2008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Administrator creates an election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Administrator adds candidates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Eligible voters are registered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Voter connects MetaMask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Voter casts one vote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Smart contract records the vote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Results are displayed after voting ends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95848" y="1077416"/>
            <a:ext cx="6095848" cy="401241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6" name="Text 4"/>
          <p:cNvSpPr/>
          <p:nvPr/>
        </p:nvSpPr>
        <p:spPr>
          <a:xfrm>
            <a:off x="6095848" y="1153616"/>
            <a:ext cx="6095848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Admin Creates Election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095848" y="1478657"/>
            <a:ext cx="6095848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2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↓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095848" y="1691977"/>
            <a:ext cx="6095848" cy="401241"/>
          </a:xfrm>
          <a:prstGeom prst="rect">
            <a:avLst/>
          </a:prstGeom>
          <a:solidFill>
            <a:srgbClr val="EAE6DB"/>
          </a:solidFill>
          <a:ln/>
        </p:spPr>
      </p:sp>
      <p:sp>
        <p:nvSpPr>
          <p:cNvPr id="9" name="Text 7"/>
          <p:cNvSpPr/>
          <p:nvPr/>
        </p:nvSpPr>
        <p:spPr>
          <a:xfrm>
            <a:off x="6095848" y="1768177"/>
            <a:ext cx="6095848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Add Candidates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095848" y="2093218"/>
            <a:ext cx="6095848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2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↓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95848" y="2306538"/>
            <a:ext cx="6095848" cy="401241"/>
          </a:xfrm>
          <a:prstGeom prst="rect">
            <a:avLst/>
          </a:prstGeom>
          <a:solidFill>
            <a:srgbClr val="EAE6DB"/>
          </a:solidFill>
          <a:ln/>
        </p:spPr>
      </p:sp>
      <p:sp>
        <p:nvSpPr>
          <p:cNvPr id="12" name="Text 10"/>
          <p:cNvSpPr/>
          <p:nvPr/>
        </p:nvSpPr>
        <p:spPr>
          <a:xfrm>
            <a:off x="6095848" y="2382738"/>
            <a:ext cx="6095848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Register Voters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2707779"/>
            <a:ext cx="6095848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2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↓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95848" y="2921099"/>
            <a:ext cx="6095848" cy="401241"/>
          </a:xfrm>
          <a:prstGeom prst="rect">
            <a:avLst/>
          </a:prstGeom>
          <a:solidFill>
            <a:srgbClr val="EAE6DB"/>
          </a:solidFill>
          <a:ln/>
        </p:spPr>
      </p:sp>
      <p:sp>
        <p:nvSpPr>
          <p:cNvPr id="15" name="Text 13"/>
          <p:cNvSpPr/>
          <p:nvPr/>
        </p:nvSpPr>
        <p:spPr>
          <a:xfrm>
            <a:off x="6095848" y="2997299"/>
            <a:ext cx="6095848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Voter Connects MetaMask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095848" y="3322340"/>
            <a:ext cx="6095848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2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95848" y="3535660"/>
            <a:ext cx="6095848" cy="401241"/>
          </a:xfrm>
          <a:prstGeom prst="rect">
            <a:avLst/>
          </a:prstGeom>
          <a:solidFill>
            <a:srgbClr val="EAE6DB"/>
          </a:solidFill>
          <a:ln/>
        </p:spPr>
      </p:sp>
      <p:sp>
        <p:nvSpPr>
          <p:cNvPr id="18" name="Text 16"/>
          <p:cNvSpPr/>
          <p:nvPr/>
        </p:nvSpPr>
        <p:spPr>
          <a:xfrm>
            <a:off x="6095848" y="3611860"/>
            <a:ext cx="6095848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Select Candidate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095848" y="3936901"/>
            <a:ext cx="6095848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2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↓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95848" y="4150221"/>
            <a:ext cx="6095848" cy="401241"/>
          </a:xfrm>
          <a:prstGeom prst="rect">
            <a:avLst/>
          </a:prstGeom>
          <a:solidFill>
            <a:srgbClr val="EAE6DB"/>
          </a:solidFill>
          <a:ln/>
        </p:spPr>
      </p:sp>
      <p:sp>
        <p:nvSpPr>
          <p:cNvPr id="21" name="Text 19"/>
          <p:cNvSpPr/>
          <p:nvPr/>
        </p:nvSpPr>
        <p:spPr>
          <a:xfrm>
            <a:off x="6095848" y="4226421"/>
            <a:ext cx="6095848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Smart Contract Checks Voter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095848" y="4551462"/>
            <a:ext cx="6095848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2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↓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095848" y="4764782"/>
            <a:ext cx="6095848" cy="401241"/>
          </a:xfrm>
          <a:prstGeom prst="rect">
            <a:avLst/>
          </a:prstGeom>
          <a:solidFill>
            <a:srgbClr val="EAE6DB"/>
          </a:solidFill>
          <a:ln/>
        </p:spPr>
      </p:sp>
      <p:sp>
        <p:nvSpPr>
          <p:cNvPr id="24" name="Text 22"/>
          <p:cNvSpPr/>
          <p:nvPr/>
        </p:nvSpPr>
        <p:spPr>
          <a:xfrm>
            <a:off x="6095848" y="4840982"/>
            <a:ext cx="6095848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Vote Recorded on Blockchain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095848" y="5166023"/>
            <a:ext cx="6095848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2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↓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95848" y="5379343"/>
            <a:ext cx="6095848" cy="401241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7" name="Text 25"/>
          <p:cNvSpPr/>
          <p:nvPr/>
        </p:nvSpPr>
        <p:spPr>
          <a:xfrm>
            <a:off x="6095848" y="5455543"/>
            <a:ext cx="6095848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Results Displayed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462951" y="123825"/>
            <a:ext cx="1373252" cy="311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50" kern="100" spc="35" dirty="0">
                <a:solidFill>
                  <a:srgbClr val="1E1E1C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04 / 10</a:t>
            </a:r>
            <a:endParaRPr lang="en-US" sz="175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1C754F-37BC-3DAD-F2E3-4C3853EA3567}"/>
              </a:ext>
            </a:extLst>
          </p:cNvPr>
          <p:cNvSpPr/>
          <p:nvPr/>
        </p:nvSpPr>
        <p:spPr>
          <a:xfrm>
            <a:off x="11137622" y="6595630"/>
            <a:ext cx="906596" cy="13941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5176" y="965200"/>
            <a:ext cx="10261343" cy="4749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400" kern="100" spc="-51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Project Objectives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5176" y="1598910"/>
            <a:ext cx="10261343" cy="377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700" kern="100" spc="-40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Objectives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65176" y="2153841"/>
            <a:ext cx="10261343" cy="17152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Develop an online voting system using blockchain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Use a smart contract for recording votes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Allow each registered voter to vote only once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Let the administrator manage elections and candidates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Display voting results clearly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Understand blockchain and smart contract usage</a:t>
            </a:r>
            <a:endParaRPr lang="en-US" sz="14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176" y="4027884"/>
            <a:ext cx="444489" cy="444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5176" y="4631134"/>
            <a:ext cx="3267985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Blockchain</a:t>
            </a:r>
            <a:endParaRPr lang="en-US" sz="17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7954" y="4027884"/>
            <a:ext cx="444489" cy="4445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37954" y="4631134"/>
            <a:ext cx="3115688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Smart Contract</a:t>
            </a:r>
            <a:endParaRPr lang="en-US" sz="17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8434" y="4027884"/>
            <a:ext cx="444489" cy="4445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958434" y="4631134"/>
            <a:ext cx="3268085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One Vote</a:t>
            </a:r>
            <a:endParaRPr lang="en-US" sz="17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5176" y="5213747"/>
            <a:ext cx="444489" cy="44450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965176" y="5816997"/>
            <a:ext cx="3267985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Admin Control</a:t>
            </a:r>
            <a:endParaRPr lang="en-US" sz="17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37954" y="5213747"/>
            <a:ext cx="444489" cy="44450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4537954" y="5816997"/>
            <a:ext cx="3115688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Results</a:t>
            </a:r>
            <a:endParaRPr lang="en-US" sz="175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58434" y="5213747"/>
            <a:ext cx="444489" cy="44450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7958434" y="5816997"/>
            <a:ext cx="3268085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Learning</a:t>
            </a:r>
            <a:endParaRPr lang="en-US" sz="1750" dirty="0"/>
          </a:p>
        </p:txBody>
      </p:sp>
      <p:sp>
        <p:nvSpPr>
          <p:cNvPr id="17" name="Text 9"/>
          <p:cNvSpPr/>
          <p:nvPr/>
        </p:nvSpPr>
        <p:spPr>
          <a:xfrm>
            <a:off x="10483985" y="123825"/>
            <a:ext cx="1352219" cy="311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50" kern="100" spc="35" dirty="0">
                <a:solidFill>
                  <a:srgbClr val="1E1E1C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05 / 10</a:t>
            </a:r>
            <a:endParaRPr lang="en-US" sz="175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53E21B-D5CB-EEF9-500C-05D4074C9B1A}"/>
              </a:ext>
            </a:extLst>
          </p:cNvPr>
          <p:cNvSpPr/>
          <p:nvPr/>
        </p:nvSpPr>
        <p:spPr>
          <a:xfrm>
            <a:off x="11137622" y="6595630"/>
            <a:ext cx="906596" cy="13941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5176" y="965200"/>
            <a:ext cx="10261343" cy="4749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400" kern="100" spc="-51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Main Features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5176" y="1598910"/>
            <a:ext cx="10261343" cy="377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700" kern="100" spc="-40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Main Features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65176" y="2153841"/>
            <a:ext cx="2336742" cy="349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Admin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65176" y="2630091"/>
            <a:ext cx="2336742" cy="10842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Create and manage elections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Add candidates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Register eligible voters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06710" y="2153841"/>
            <a:ext cx="2336742" cy="349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Voter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06710" y="2630091"/>
            <a:ext cx="2336742" cy="542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Connect MetaMask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Cast one vote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48244" y="2153841"/>
            <a:ext cx="2336742" cy="349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Blockchain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248244" y="2630091"/>
            <a:ext cx="2336742" cy="10842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Record votes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Prevent repeated voting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Store the voting transaction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889778" y="2153841"/>
            <a:ext cx="2336742" cy="349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Results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889778" y="2630091"/>
            <a:ext cx="2336742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View results after the election ends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5176" y="4990306"/>
            <a:ext cx="2336742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Admin Panel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965176" y="5395119"/>
            <a:ext cx="2565336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→ Election Management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759106" y="4990306"/>
            <a:ext cx="2108147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Voter Panel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3759106" y="5395119"/>
            <a:ext cx="2336742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→ MetaMask → Vote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24442" y="4990306"/>
            <a:ext cx="2108147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Blockchain Layer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6324442" y="5395119"/>
            <a:ext cx="2108147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→ Smart Contract → Vote Record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889778" y="4990306"/>
            <a:ext cx="2336742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Results Page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8889778" y="5395119"/>
            <a:ext cx="2336742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→ Candidate Vote Counts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470690" y="123825"/>
            <a:ext cx="1365513" cy="311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50" kern="100" spc="35" dirty="0">
                <a:solidFill>
                  <a:srgbClr val="1E1E1C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06 / 10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3524162" y="4990306"/>
            <a:ext cx="12700" cy="902494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2" name="Shape 20"/>
          <p:cNvSpPr/>
          <p:nvPr/>
        </p:nvSpPr>
        <p:spPr>
          <a:xfrm>
            <a:off x="6089498" y="4990306"/>
            <a:ext cx="12700" cy="902494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3" name="Shape 21"/>
          <p:cNvSpPr/>
          <p:nvPr/>
        </p:nvSpPr>
        <p:spPr>
          <a:xfrm>
            <a:off x="8654833" y="4990306"/>
            <a:ext cx="12700" cy="902494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FC93431-8C10-3D1C-9734-AF2979F5F027}"/>
              </a:ext>
            </a:extLst>
          </p:cNvPr>
          <p:cNvSpPr/>
          <p:nvPr/>
        </p:nvSpPr>
        <p:spPr>
          <a:xfrm>
            <a:off x="11137622" y="6595630"/>
            <a:ext cx="906596" cy="13941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5176" y="965200"/>
            <a:ext cx="4013100" cy="4749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400" kern="100" spc="-51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Technology Stack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5176" y="1598910"/>
            <a:ext cx="4013100" cy="377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700" kern="100" spc="-40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Technologies</a:t>
            </a:r>
            <a:endParaRPr lang="en-US" sz="2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65176" y="2153841"/>
          <a:ext cx="4013100" cy="3420580"/>
        </p:xfrm>
        <a:graphic>
          <a:graphicData uri="http://schemas.openxmlformats.org/drawingml/2006/table">
            <a:tbl>
              <a:tblPr/>
              <a:tblGrid>
                <a:gridCol w="13644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486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726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Host Grotesk" pitchFamily="34" charset="0"/>
                          <a:ea typeface="Host Grotesk" pitchFamily="34" charset="-122"/>
                          <a:cs typeface="Host Grotesk" pitchFamily="34" charset="-120"/>
                        </a:rPr>
                        <a:t>Technology</a:t>
                      </a:r>
                      <a:endParaRPr lang="en-US" sz="1400" dirty="0">
                        <a:latin typeface="Host Grotesk" charset="0"/>
                        <a:ea typeface="Host Grotesk" charset="0"/>
                        <a:cs typeface="Host Grotesk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Host Grotesk" pitchFamily="34" charset="0"/>
                          <a:ea typeface="Host Grotesk" pitchFamily="34" charset="-122"/>
                          <a:cs typeface="Host Grotesk" pitchFamily="34" charset="-120"/>
                        </a:rPr>
                        <a:t>Purpose</a:t>
                      </a:r>
                      <a:endParaRPr lang="en-US" sz="1400" dirty="0">
                        <a:latin typeface="Host Grotesk" charset="0"/>
                        <a:ea typeface="Host Grotesk" charset="0"/>
                        <a:cs typeface="Host Grotesk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26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1E1C"/>
                          </a:solidFill>
                          <a:latin typeface="Host Grotesk" pitchFamily="34" charset="0"/>
                          <a:ea typeface="Host Grotesk" pitchFamily="34" charset="-122"/>
                          <a:cs typeface="Host Grotesk" pitchFamily="34" charset="-120"/>
                        </a:rPr>
                        <a:t>Solidity</a:t>
                      </a:r>
                      <a:endParaRPr lang="en-US" sz="1400" dirty="0">
                        <a:latin typeface="Host Grotesk" charset="0"/>
                        <a:ea typeface="Host Grotesk" charset="0"/>
                        <a:cs typeface="Host Grotesk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1E1C"/>
                          </a:solidFill>
                          <a:latin typeface="Host Grotesk" pitchFamily="34" charset="0"/>
                          <a:ea typeface="Host Grotesk" pitchFamily="34" charset="-122"/>
                          <a:cs typeface="Host Grotesk" pitchFamily="34" charset="-120"/>
                        </a:rPr>
                        <a:t>Smart contract development</a:t>
                      </a:r>
                      <a:endParaRPr lang="en-US" sz="1400" dirty="0">
                        <a:latin typeface="Host Grotesk" charset="0"/>
                        <a:ea typeface="Host Grotesk" charset="0"/>
                        <a:cs typeface="Host Grotesk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726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1E1C"/>
                          </a:solidFill>
                          <a:latin typeface="Host Grotesk" pitchFamily="34" charset="0"/>
                          <a:ea typeface="Host Grotesk" pitchFamily="34" charset="-122"/>
                          <a:cs typeface="Host Grotesk" pitchFamily="34" charset="-120"/>
                        </a:rPr>
                        <a:t>Ethereum</a:t>
                      </a:r>
                      <a:endParaRPr lang="en-US" sz="1400" dirty="0">
                        <a:latin typeface="Host Grotesk" charset="0"/>
                        <a:ea typeface="Host Grotesk" charset="0"/>
                        <a:cs typeface="Host Grotesk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1E1C"/>
                          </a:solidFill>
                          <a:latin typeface="Host Grotesk" pitchFamily="34" charset="0"/>
                          <a:ea typeface="Host Grotesk" pitchFamily="34" charset="-122"/>
                          <a:cs typeface="Host Grotesk" pitchFamily="34" charset="-120"/>
                        </a:rPr>
                        <a:t>Blockchain testing</a:t>
                      </a:r>
                      <a:endParaRPr lang="en-US" sz="1400" dirty="0">
                        <a:latin typeface="Host Grotesk" charset="0"/>
                        <a:ea typeface="Host Grotesk" charset="0"/>
                        <a:cs typeface="Host Grotesk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726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1E1C"/>
                          </a:solidFill>
                          <a:latin typeface="Host Grotesk" pitchFamily="34" charset="0"/>
                          <a:ea typeface="Host Grotesk" pitchFamily="34" charset="-122"/>
                          <a:cs typeface="Host Grotesk" pitchFamily="34" charset="-120"/>
                        </a:rPr>
                        <a:t>MetaMask</a:t>
                      </a:r>
                      <a:endParaRPr lang="en-US" sz="1400" dirty="0">
                        <a:latin typeface="Host Grotesk" charset="0"/>
                        <a:ea typeface="Host Grotesk" charset="0"/>
                        <a:cs typeface="Host Grotesk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1E1C"/>
                          </a:solidFill>
                          <a:latin typeface="Host Grotesk" pitchFamily="34" charset="0"/>
                          <a:ea typeface="Host Grotesk" pitchFamily="34" charset="-122"/>
                          <a:cs typeface="Host Grotesk" pitchFamily="34" charset="-120"/>
                        </a:rPr>
                        <a:t>Wallet connection</a:t>
                      </a:r>
                      <a:endParaRPr lang="en-US" sz="1400" dirty="0">
                        <a:latin typeface="Host Grotesk" charset="0"/>
                        <a:ea typeface="Host Grotesk" charset="0"/>
                        <a:cs typeface="Host Grotesk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60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1E1C"/>
                          </a:solidFill>
                          <a:latin typeface="Host Grotesk" pitchFamily="34" charset="0"/>
                          <a:ea typeface="Host Grotesk" pitchFamily="34" charset="-122"/>
                          <a:cs typeface="Host Grotesk" pitchFamily="34" charset="-120"/>
                        </a:rPr>
                        <a:t>Ethers.js</a:t>
                      </a:r>
                      <a:endParaRPr lang="en-US" sz="1400" dirty="0">
                        <a:latin typeface="Host Grotesk" charset="0"/>
                        <a:ea typeface="Host Grotesk" charset="0"/>
                        <a:cs typeface="Host Grotesk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1E1C"/>
                          </a:solidFill>
                          <a:latin typeface="Host Grotesk" pitchFamily="34" charset="0"/>
                          <a:ea typeface="Host Grotesk" pitchFamily="34" charset="-122"/>
                          <a:cs typeface="Host Grotesk" pitchFamily="34" charset="-120"/>
                        </a:rPr>
                        <a:t>Website connection with smart contract</a:t>
                      </a:r>
                      <a:endParaRPr lang="en-US" sz="1400" dirty="0">
                        <a:latin typeface="Host Grotesk" charset="0"/>
                        <a:ea typeface="Host Grotesk" charset="0"/>
                        <a:cs typeface="Host Grotesk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726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1E1C"/>
                          </a:solidFill>
                          <a:latin typeface="Host Grotesk" pitchFamily="34" charset="0"/>
                          <a:ea typeface="Host Grotesk" pitchFamily="34" charset="-122"/>
                          <a:cs typeface="Host Grotesk" pitchFamily="34" charset="-120"/>
                        </a:rPr>
                        <a:t>HTML</a:t>
                      </a:r>
                      <a:endParaRPr lang="en-US" sz="1400" dirty="0">
                        <a:latin typeface="Host Grotesk" charset="0"/>
                        <a:ea typeface="Host Grotesk" charset="0"/>
                        <a:cs typeface="Host Grotesk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1E1C"/>
                          </a:solidFill>
                          <a:latin typeface="Host Grotesk" pitchFamily="34" charset="0"/>
                          <a:ea typeface="Host Grotesk" pitchFamily="34" charset="-122"/>
                          <a:cs typeface="Host Grotesk" pitchFamily="34" charset="-120"/>
                        </a:rPr>
                        <a:t>Website structure</a:t>
                      </a:r>
                      <a:endParaRPr lang="en-US" sz="1400" dirty="0">
                        <a:latin typeface="Host Grotesk" charset="0"/>
                        <a:ea typeface="Host Grotesk" charset="0"/>
                        <a:cs typeface="Host Grotesk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726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1E1C"/>
                          </a:solidFill>
                          <a:latin typeface="Host Grotesk" pitchFamily="34" charset="0"/>
                          <a:ea typeface="Host Grotesk" pitchFamily="34" charset="-122"/>
                          <a:cs typeface="Host Grotesk" pitchFamily="34" charset="-120"/>
                        </a:rPr>
                        <a:t>CSS</a:t>
                      </a:r>
                      <a:endParaRPr lang="en-US" sz="1400" dirty="0">
                        <a:latin typeface="Host Grotesk" charset="0"/>
                        <a:ea typeface="Host Grotesk" charset="0"/>
                        <a:cs typeface="Host Grotesk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1E1C"/>
                          </a:solidFill>
                          <a:latin typeface="Host Grotesk" pitchFamily="34" charset="0"/>
                          <a:ea typeface="Host Grotesk" pitchFamily="34" charset="-122"/>
                          <a:cs typeface="Host Grotesk" pitchFamily="34" charset="-120"/>
                        </a:rPr>
                        <a:t>Website styling</a:t>
                      </a:r>
                      <a:endParaRPr lang="en-US" sz="1400" dirty="0">
                        <a:latin typeface="Host Grotesk" charset="0"/>
                        <a:ea typeface="Host Grotesk" charset="0"/>
                        <a:cs typeface="Host Grotesk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0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1E1C"/>
                          </a:solidFill>
                          <a:latin typeface="Host Grotesk" pitchFamily="34" charset="0"/>
                          <a:ea typeface="Host Grotesk" pitchFamily="34" charset="-122"/>
                          <a:cs typeface="Host Grotesk" pitchFamily="34" charset="-120"/>
                        </a:rPr>
                        <a:t>JavaScript</a:t>
                      </a:r>
                      <a:endParaRPr lang="en-US" sz="1400" dirty="0">
                        <a:latin typeface="Host Grotesk" charset="0"/>
                        <a:ea typeface="Host Grotesk" charset="0"/>
                        <a:cs typeface="Host Grotesk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1E1C"/>
                          </a:solidFill>
                          <a:latin typeface="Host Grotesk" pitchFamily="34" charset="0"/>
                          <a:ea typeface="Host Grotesk" pitchFamily="34" charset="-122"/>
                          <a:cs typeface="Host Grotesk" pitchFamily="34" charset="-120"/>
                        </a:rPr>
                        <a:t>Website functionality</a:t>
                      </a:r>
                      <a:endParaRPr lang="en-US" sz="1400" dirty="0">
                        <a:latin typeface="Host Grotesk" charset="0"/>
                        <a:ea typeface="Host Grotesk" charset="0"/>
                        <a:cs typeface="Host Grotesk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213420" y="1112044"/>
            <a:ext cx="401231" cy="911225"/>
          </a:xfrm>
          <a:prstGeom prst="roundRect">
            <a:avLst>
              <a:gd name="adj" fmla="val 6647"/>
            </a:avLst>
          </a:prstGeom>
          <a:solidFill>
            <a:srgbClr val="E6E6E6"/>
          </a:solidFill>
          <a:ln/>
        </p:spPr>
      </p:sp>
      <p:sp>
        <p:nvSpPr>
          <p:cNvPr id="6" name="Text 3"/>
          <p:cNvSpPr/>
          <p:nvPr/>
        </p:nvSpPr>
        <p:spPr>
          <a:xfrm>
            <a:off x="7391215" y="1430139"/>
            <a:ext cx="159143" cy="2749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4"/>
          <p:cNvSpPr/>
          <p:nvPr/>
        </p:nvSpPr>
        <p:spPr>
          <a:xfrm>
            <a:off x="7792446" y="1289844"/>
            <a:ext cx="3256278" cy="555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User Interface (HTML + CSS + JavaScript)</a:t>
            </a:r>
            <a:endParaRPr lang="en-US" sz="1750" dirty="0"/>
          </a:p>
        </p:txBody>
      </p:sp>
      <p:sp>
        <p:nvSpPr>
          <p:cNvPr id="4" name="Shape 5"/>
          <p:cNvSpPr/>
          <p:nvPr/>
        </p:nvSpPr>
        <p:spPr>
          <a:xfrm>
            <a:off x="7703548" y="2018506"/>
            <a:ext cx="3434073" cy="9525"/>
          </a:xfrm>
          <a:prstGeom prst="roundRect">
            <a:avLst>
              <a:gd name="adj" fmla="val 49999"/>
            </a:avLst>
          </a:prstGeom>
          <a:solidFill>
            <a:srgbClr val="CCCCCC"/>
          </a:solidFill>
          <a:ln/>
        </p:spPr>
      </p:sp>
      <p:sp>
        <p:nvSpPr>
          <p:cNvPr id="9" name="Shape 6"/>
          <p:cNvSpPr/>
          <p:nvPr/>
        </p:nvSpPr>
        <p:spPr>
          <a:xfrm>
            <a:off x="7213420" y="2112169"/>
            <a:ext cx="802560" cy="911225"/>
          </a:xfrm>
          <a:prstGeom prst="roundRect">
            <a:avLst>
              <a:gd name="adj" fmla="val 3323"/>
            </a:avLst>
          </a:prstGeom>
          <a:solidFill>
            <a:srgbClr val="E6E6E6"/>
          </a:solidFill>
          <a:ln/>
        </p:spPr>
      </p:sp>
      <p:sp>
        <p:nvSpPr>
          <p:cNvPr id="10" name="Text 7"/>
          <p:cNvSpPr/>
          <p:nvPr/>
        </p:nvSpPr>
        <p:spPr>
          <a:xfrm>
            <a:off x="7489737" y="2430264"/>
            <a:ext cx="249926" cy="2749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2</a:t>
            </a:r>
            <a:endParaRPr lang="en-US" sz="1950" dirty="0"/>
          </a:p>
        </p:txBody>
      </p:sp>
      <p:sp>
        <p:nvSpPr>
          <p:cNvPr id="11" name="Text 8"/>
          <p:cNvSpPr/>
          <p:nvPr/>
        </p:nvSpPr>
        <p:spPr>
          <a:xfrm>
            <a:off x="8193775" y="2289969"/>
            <a:ext cx="2854948" cy="555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Blockchain Connection (Ethers.js)</a:t>
            </a:r>
            <a:endParaRPr lang="en-US" sz="1750" dirty="0"/>
          </a:p>
        </p:txBody>
      </p:sp>
      <p:sp>
        <p:nvSpPr>
          <p:cNvPr id="12" name="Shape 9"/>
          <p:cNvSpPr/>
          <p:nvPr/>
        </p:nvSpPr>
        <p:spPr>
          <a:xfrm>
            <a:off x="8104878" y="3018631"/>
            <a:ext cx="3032744" cy="9525"/>
          </a:xfrm>
          <a:prstGeom prst="roundRect">
            <a:avLst>
              <a:gd name="adj" fmla="val 49999"/>
            </a:avLst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>
            <a:off x="7213420" y="3112294"/>
            <a:ext cx="1203890" cy="633412"/>
          </a:xfrm>
          <a:prstGeom prst="roundRect">
            <a:avLst>
              <a:gd name="adj" fmla="val 4210"/>
            </a:avLst>
          </a:prstGeom>
          <a:solidFill>
            <a:srgbClr val="E6E6E6"/>
          </a:solidFill>
          <a:ln/>
        </p:spPr>
      </p:sp>
      <p:sp>
        <p:nvSpPr>
          <p:cNvPr id="14" name="Text 11"/>
          <p:cNvSpPr/>
          <p:nvPr/>
        </p:nvSpPr>
        <p:spPr>
          <a:xfrm>
            <a:off x="7690352" y="3291483"/>
            <a:ext cx="249926" cy="2749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3</a:t>
            </a:r>
            <a:endParaRPr lang="en-US" sz="1950" dirty="0"/>
          </a:p>
        </p:txBody>
      </p:sp>
      <p:sp>
        <p:nvSpPr>
          <p:cNvPr id="15" name="Text 12"/>
          <p:cNvSpPr/>
          <p:nvPr/>
        </p:nvSpPr>
        <p:spPr>
          <a:xfrm>
            <a:off x="8595105" y="3290094"/>
            <a:ext cx="2453618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Wallet (MetaMask)</a:t>
            </a:r>
            <a:endParaRPr lang="en-US" sz="1750" dirty="0"/>
          </a:p>
        </p:txBody>
      </p:sp>
      <p:sp>
        <p:nvSpPr>
          <p:cNvPr id="16" name="Shape 13"/>
          <p:cNvSpPr/>
          <p:nvPr/>
        </p:nvSpPr>
        <p:spPr>
          <a:xfrm>
            <a:off x="8506208" y="3740944"/>
            <a:ext cx="2631414" cy="9525"/>
          </a:xfrm>
          <a:prstGeom prst="roundRect">
            <a:avLst>
              <a:gd name="adj" fmla="val 49999"/>
            </a:avLst>
          </a:prstGeom>
          <a:solidFill>
            <a:srgbClr val="CCCCCC"/>
          </a:solidFill>
          <a:ln/>
        </p:spPr>
      </p:sp>
      <p:sp>
        <p:nvSpPr>
          <p:cNvPr id="17" name="Shape 14"/>
          <p:cNvSpPr/>
          <p:nvPr/>
        </p:nvSpPr>
        <p:spPr>
          <a:xfrm>
            <a:off x="7213420" y="3834606"/>
            <a:ext cx="1605220" cy="911225"/>
          </a:xfrm>
          <a:prstGeom prst="roundRect">
            <a:avLst>
              <a:gd name="adj" fmla="val 2927"/>
            </a:avLst>
          </a:prstGeom>
          <a:solidFill>
            <a:srgbClr val="E6E6E6"/>
          </a:solidFill>
          <a:ln/>
        </p:spPr>
      </p:sp>
      <p:sp>
        <p:nvSpPr>
          <p:cNvPr id="18" name="Text 15"/>
          <p:cNvSpPr/>
          <p:nvPr/>
        </p:nvSpPr>
        <p:spPr>
          <a:xfrm>
            <a:off x="7891067" y="4152702"/>
            <a:ext cx="249926" cy="2749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4</a:t>
            </a:r>
            <a:endParaRPr lang="en-US" sz="1950" dirty="0"/>
          </a:p>
        </p:txBody>
      </p:sp>
      <p:sp>
        <p:nvSpPr>
          <p:cNvPr id="19" name="Text 16"/>
          <p:cNvSpPr/>
          <p:nvPr/>
        </p:nvSpPr>
        <p:spPr>
          <a:xfrm>
            <a:off x="8996435" y="4012406"/>
            <a:ext cx="2052289" cy="555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Smart Contract (Solidity)</a:t>
            </a:r>
            <a:endParaRPr lang="en-US" sz="1750" dirty="0"/>
          </a:p>
        </p:txBody>
      </p:sp>
      <p:sp>
        <p:nvSpPr>
          <p:cNvPr id="20" name="Shape 17"/>
          <p:cNvSpPr/>
          <p:nvPr/>
        </p:nvSpPr>
        <p:spPr>
          <a:xfrm>
            <a:off x="8907537" y="4741069"/>
            <a:ext cx="2230084" cy="9525"/>
          </a:xfrm>
          <a:prstGeom prst="roundRect">
            <a:avLst>
              <a:gd name="adj" fmla="val 49999"/>
            </a:avLst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7213420" y="4834731"/>
            <a:ext cx="2006550" cy="911225"/>
          </a:xfrm>
          <a:prstGeom prst="roundRect">
            <a:avLst>
              <a:gd name="adj" fmla="val 2927"/>
            </a:avLst>
          </a:prstGeom>
          <a:solidFill>
            <a:srgbClr val="E6E6E6"/>
          </a:solidFill>
          <a:ln/>
        </p:spPr>
      </p:sp>
      <p:sp>
        <p:nvSpPr>
          <p:cNvPr id="22" name="Text 19"/>
          <p:cNvSpPr/>
          <p:nvPr/>
        </p:nvSpPr>
        <p:spPr>
          <a:xfrm>
            <a:off x="8091682" y="5152827"/>
            <a:ext cx="249926" cy="2749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5</a:t>
            </a:r>
            <a:endParaRPr lang="en-US" sz="1950" dirty="0"/>
          </a:p>
        </p:txBody>
      </p:sp>
      <p:sp>
        <p:nvSpPr>
          <p:cNvPr id="23" name="Text 20"/>
          <p:cNvSpPr/>
          <p:nvPr/>
        </p:nvSpPr>
        <p:spPr>
          <a:xfrm>
            <a:off x="9397765" y="5012531"/>
            <a:ext cx="1650959" cy="555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Blockchain (Ethereum)</a:t>
            </a:r>
            <a:endParaRPr lang="en-US" sz="1750" dirty="0"/>
          </a:p>
        </p:txBody>
      </p:sp>
      <p:sp>
        <p:nvSpPr>
          <p:cNvPr id="24" name="Text 21"/>
          <p:cNvSpPr/>
          <p:nvPr/>
        </p:nvSpPr>
        <p:spPr>
          <a:xfrm>
            <a:off x="10482893" y="123825"/>
            <a:ext cx="1353310" cy="311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50" kern="100" spc="35" dirty="0">
                <a:solidFill>
                  <a:srgbClr val="1E1E1C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07 / 10</a:t>
            </a:r>
            <a:endParaRPr lang="en-US" sz="175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EDB66C6-74CC-175B-ED12-4F8888C4AEB1}"/>
              </a:ext>
            </a:extLst>
          </p:cNvPr>
          <p:cNvSpPr/>
          <p:nvPr/>
        </p:nvSpPr>
        <p:spPr>
          <a:xfrm>
            <a:off x="11137622" y="6595630"/>
            <a:ext cx="906596" cy="13941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5176" y="965200"/>
            <a:ext cx="3545791" cy="94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400" kern="100" spc="-51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How the System Will Work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5176" y="2073870"/>
            <a:ext cx="3545791" cy="377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700" kern="100" spc="-40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Voting Process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65176" y="2628801"/>
            <a:ext cx="3545791" cy="30928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17000"/>
              </a:lnSpc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Administrator creates an election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Font typeface="+mj-lt"/>
              <a:buAutoNum type="arabicPeriod" startAt="2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Candidates are added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Font typeface="+mj-lt"/>
              <a:buAutoNum type="arabicPeriod" startAt="3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Eligible voters are registered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Font typeface="+mj-lt"/>
              <a:buAutoNum type="arabicPeriod" startAt="4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Voter connects MetaMask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Font typeface="+mj-lt"/>
              <a:buAutoNum type="arabicPeriod" startAt="5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Voter selects a candidate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Font typeface="+mj-lt"/>
              <a:buAutoNum type="arabicPeriod" startAt="6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Smart contract checks registration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Font typeface="+mj-lt"/>
              <a:buAutoNum type="arabicPeriod" startAt="7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Smart contract checks whether the voter already voted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Font typeface="+mj-lt"/>
              <a:buAutoNum type="arabicPeriod" startAt="8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Valid vote is recorded on blockchain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Font typeface="+mj-lt"/>
              <a:buAutoNum type="arabicPeriod" startAt="9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Results are shown after the election ends</a:t>
            </a:r>
            <a:endParaRPr lang="en-US" sz="14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8408" y="1010245"/>
            <a:ext cx="4328111" cy="48374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472972" y="123825"/>
            <a:ext cx="1363232" cy="311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50" kern="100" spc="35" dirty="0">
                <a:solidFill>
                  <a:srgbClr val="1E1E1C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08 / 10</a:t>
            </a:r>
            <a:endParaRPr lang="en-US" sz="175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977990-78E0-2BF4-9334-442158AB7113}"/>
              </a:ext>
            </a:extLst>
          </p:cNvPr>
          <p:cNvSpPr/>
          <p:nvPr/>
        </p:nvSpPr>
        <p:spPr>
          <a:xfrm>
            <a:off x="11137622" y="6595630"/>
            <a:ext cx="906596" cy="13941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5176" y="965200"/>
            <a:ext cx="10261343" cy="4749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400" kern="100" spc="-51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Expected Outcome and Project Scope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5176" y="1617960"/>
            <a:ext cx="4902077" cy="377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700" kern="100" spc="-40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Expected Outcome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65176" y="2172891"/>
            <a:ext cx="4902077" cy="1422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A working web voting application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Suitable for a small university or class election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Votes recorded through blockchain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Voting transactions can be demonstrated and verified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Results shown clearly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24442" y="1617960"/>
            <a:ext cx="4902077" cy="377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700" kern="100" spc="-40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Project Scope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324442" y="2172891"/>
            <a:ext cx="4902077" cy="11287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Educational prototype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University or classroom elections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Focus on learning blockchain concepts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Not designed for national or government elections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6997" y="3962400"/>
            <a:ext cx="8000800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kern="100" spc="88" dirty="0">
                <a:solidFill>
                  <a:srgbClr val="4F4F4B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INSIDE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26997" y="4316710"/>
            <a:ext cx="7797605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University Election · Class Election · Societies Election · Blockchain Demonstration · Smart Contract Learning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30992" y="3962400"/>
            <a:ext cx="3860703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kern="100" spc="88" dirty="0">
                <a:solidFill>
                  <a:srgbClr val="4F4F4B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OUTSIDE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330992" y="4316710"/>
            <a:ext cx="3860703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National Elections · Government Elections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470690" y="123825"/>
            <a:ext cx="1365513" cy="311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50" kern="100" spc="35" dirty="0">
                <a:solidFill>
                  <a:srgbClr val="1E1E1C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09 / 10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8121447" y="3886200"/>
            <a:ext cx="12700" cy="29718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E12E53-33BE-61B3-150E-9B3BB4ECB952}"/>
              </a:ext>
            </a:extLst>
          </p:cNvPr>
          <p:cNvSpPr/>
          <p:nvPr/>
        </p:nvSpPr>
        <p:spPr>
          <a:xfrm>
            <a:off x="11137622" y="6595630"/>
            <a:ext cx="906596" cy="13941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5176" y="965200"/>
            <a:ext cx="10261343" cy="4749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400" kern="100" spc="-51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5176" y="1598910"/>
            <a:ext cx="10261343" cy="377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700" kern="100" spc="-40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Conclusion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65176" y="2153841"/>
            <a:ext cx="10261343" cy="1422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Simple practical use of blockchain in voting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Demonstrates smart contract based vote recording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Shows how digital wallets connect with blockchain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Helps understand blockchain transactions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Demonstrates a decentralized application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5176" y="3952180"/>
            <a:ext cx="10870928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00" b="1" dirty="0">
                <a:solidFill>
                  <a:srgbClr val="1E1E1C"/>
                </a:solidFill>
                <a:latin typeface="Host Grotesk Bold" pitchFamily="34" charset="0"/>
                <a:ea typeface="Host Grotesk Bold" pitchFamily="34" charset="-122"/>
                <a:cs typeface="Host Grotesk Bold" pitchFamily="34" charset="-120"/>
              </a:rPr>
              <a:t>Final Flow:</a:t>
            </a: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 Voter → Website → MetaMask → Smart Contract → Blockchain → Results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65176" y="4359771"/>
            <a:ext cx="1583194" cy="954881"/>
          </a:xfrm>
          <a:prstGeom prst="roundRect">
            <a:avLst>
              <a:gd name="adj" fmla="val 2793"/>
            </a:avLst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5176" y="4607421"/>
            <a:ext cx="1583194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Voter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00766" y="4359771"/>
            <a:ext cx="1583194" cy="954881"/>
          </a:xfrm>
          <a:prstGeom prst="roundRect">
            <a:avLst>
              <a:gd name="adj" fmla="val 2793"/>
            </a:avLst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00766" y="4607421"/>
            <a:ext cx="1583194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Website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36356" y="4359771"/>
            <a:ext cx="1583293" cy="954881"/>
          </a:xfrm>
          <a:prstGeom prst="roundRect">
            <a:avLst>
              <a:gd name="adj" fmla="val 2793"/>
            </a:avLst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36356" y="4607421"/>
            <a:ext cx="1583293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MetaMask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72046" y="4359771"/>
            <a:ext cx="1583194" cy="954881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640" y="4588371"/>
            <a:ext cx="1126005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Smart Contract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907636" y="4359771"/>
            <a:ext cx="1583194" cy="954881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5" name="Text 13"/>
          <p:cNvSpPr/>
          <p:nvPr/>
        </p:nvSpPr>
        <p:spPr>
          <a:xfrm>
            <a:off x="7907636" y="4588371"/>
            <a:ext cx="1583194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Blockchain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643226" y="4359771"/>
            <a:ext cx="1583293" cy="954881"/>
          </a:xfrm>
          <a:prstGeom prst="roundRect">
            <a:avLst>
              <a:gd name="adj" fmla="val 2793"/>
            </a:avLst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43226" y="4607421"/>
            <a:ext cx="1583293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Results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498470" y="123825"/>
            <a:ext cx="1337733" cy="311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50" kern="100" spc="35" dirty="0">
                <a:solidFill>
                  <a:srgbClr val="1E1E1C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10 / 10</a:t>
            </a:r>
            <a:endParaRPr lang="en-US" sz="17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6A8C8B9-8EB9-40ED-F85D-6D1AF076335B}"/>
              </a:ext>
            </a:extLst>
          </p:cNvPr>
          <p:cNvSpPr/>
          <p:nvPr/>
        </p:nvSpPr>
        <p:spPr>
          <a:xfrm>
            <a:off x="11137622" y="6595630"/>
            <a:ext cx="906596" cy="13941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603</Words>
  <Application>Microsoft Office PowerPoint</Application>
  <PresentationFormat>Widescreen</PresentationFormat>
  <Paragraphs>190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Host Grotesk</vt:lpstr>
      <vt:lpstr>Arial</vt:lpstr>
      <vt:lpstr>Bodoni Moda</vt:lpstr>
      <vt:lpstr>Host Grotesk Medium</vt:lpstr>
      <vt:lpstr>Host Grotesk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Abdul Moiz</cp:lastModifiedBy>
  <cp:revision>2</cp:revision>
  <dcterms:created xsi:type="dcterms:W3CDTF">2026-10-03T13:39:29Z</dcterms:created>
  <dcterms:modified xsi:type="dcterms:W3CDTF">2026-10-03T13:48:09Z</dcterms:modified>
</cp:coreProperties>
</file>